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3"/>
    <p:sldId id="257" r:id="rId2"/>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C4CDFC-31C6-4A0C-83A8-5F3C04108DC2}" v="6" dt="2026-09-28T03:14:14.5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46" autoAdjust="0"/>
    <p:restoredTop sz="85359" autoAdjust="0"/>
  </p:normalViewPr>
  <p:slideViewPr>
    <p:cSldViewPr>
      <p:cViewPr varScale="1">
        <p:scale>
          <a:sx n="51" d="100"/>
          <a:sy n="51" d="100"/>
        </p:scale>
        <p:origin x="1584"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microsoft.com/office/2015/10/relationships/revisionInfo" Target="revisionInfo.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BE0B3843-71DB-4933-96B2-5A286420EAED}" type="datetimeFigureOut">
              <a:rPr lang="en-IN" smtClean="0"/>
              <a:pPr/>
              <a:t>28-09-2026</a:t>
            </a:fld>
            <a:endParaRPr lang="en-IN"/>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04051410-1A42-4CD9-9C94-19E4466B22C6}" type="slidenum">
              <a:rPr lang="en-IN" smtClean="0"/>
              <a:pPr/>
              <a:t>‹#›</a:t>
            </a:fld>
            <a:endParaRPr lang="en-IN"/>
          </a:p>
        </p:txBody>
      </p:sp>
    </p:spTree>
    <p:extLst>
      <p:ext uri="{BB962C8B-B14F-4D97-AF65-F5344CB8AC3E}">
        <p14:creationId xmlns:p14="http://schemas.microsoft.com/office/powerpoint/2010/main" val="1764658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3501D12-12CC-4599-B1A9-46B23EE40265}"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701A662-5DD3-4FFC-B0F1-2015CB0A0DAE}"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A98144-BEFF-4702-AC4D-6A16E0F7E443}"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E9FD06E-5333-4E53-AFAB-CB44FF27A57E}" type="datetime1">
              <a:rPr lang="en-US" smtClean="0"/>
              <a:t>9/28/2026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99A21B5-5FA1-433F-8BD7-148FD7224A0F}" type="datetime1">
              <a:rPr lang="en-US" smtClean="0"/>
              <a:t>9/28/2026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65D7CA1-D255-4502-AFA8-A5C13107334B}" type="datetime1">
              <a:rPr lang="en-US" smtClean="0"/>
              <a:t>9/28/2026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553D88-E4EA-480A-A4BB-689734D28FE4}" type="datetime1">
              <a:rPr lang="en-US" smtClean="0"/>
              <a:t>9/28/2026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F60DE4-0BF3-46B9-83A2-2AF36E731B12}" type="datetime1">
              <a:rPr lang="en-US" smtClean="0"/>
              <a:t>9/28/2026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D5D0A-779E-4A13-8C93-0EEB1D4607F5}" type="datetime1">
              <a:rPr lang="en-US" smtClean="0"/>
              <a:t>9/28/2026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A813685-E0B9-4B43-833E-F4F3DABCD097}"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1CE4E74-A84D-43FC-9765-A65DF08BB6C7}" type="datetime1">
              <a:rPr lang="en-US" smtClean="0"/>
              <a:t>9/28/2026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C9B245-E05F-45BE-B7A4-197150CC347C}"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9455C-F1F3-4F5C-85DA-4378C108ECB7}" type="datetime1">
              <a:rPr lang="en-US" smtClean="0"/>
              <a:t>9/28/2026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9B245-E05F-45BE-B7A4-197150CC347C}"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8288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jpeg"/>
          <p:cNvPicPr>
            <a:picLocks noChangeAspect="1"/>
          </p:cNvPicPr>
          <p:nvPr/>
        </p:nvPicPr>
        <p:blipFill>
          <a:blip r:embed="rId2"/>
          <a:stretch>
            <a:fillRect/>
          </a:stretch>
        </p:blipFill>
        <p:spPr>
          <a:xfrm>
            <a:off x="6675120" y="320040"/>
            <a:ext cx="2011680" cy="822960"/>
          </a:xfrm>
          <a:prstGeom prst="rect">
            <a:avLst/>
          </a:prstGeom>
        </p:spPr>
      </p:pic>
      <p:sp>
        <p:nvSpPr>
          <p:cNvPr id="4" name="Rounded Rectangle 3"/>
          <p:cNvSpPr/>
          <p:nvPr/>
        </p:nvSpPr>
        <p:spPr>
          <a:xfrm>
            <a:off x="548640" y="365760"/>
            <a:ext cx="4389120" cy="411480"/>
          </a:xfrm>
          <a:prstGeom prst="roundRect">
            <a:avLst/>
          </a:prstGeom>
          <a:solidFill>
            <a:srgbClr val="EBF3FA"/>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1F4E79"/>
                </a:solidFill>
                <a:latin typeface="Times New Roman"/>
              </a:defRPr>
            </a:pPr>
            <a:r>
              <a:t>21CSC314P - Big Data Essentials | Project Review 2</a:t>
            </a:r>
          </a:p>
        </p:txBody>
      </p:sp>
      <p:sp>
        <p:nvSpPr>
          <p:cNvPr id="5" name="TextBox 4"/>
          <p:cNvSpPr txBox="1"/>
          <p:nvPr/>
        </p:nvSpPr>
        <p:spPr>
          <a:xfrm>
            <a:off x="548640" y="1051560"/>
            <a:ext cx="8046720" cy="1554480"/>
          </a:xfrm>
          <a:prstGeom prst="rect">
            <a:avLst/>
          </a:prstGeom>
          <a:noFill/>
        </p:spPr>
        <p:txBody>
          <a:bodyPr wrap="square" lIns="0" tIns="0" rIns="0" bIns="0">
            <a:spAutoFit/>
          </a:bodyPr>
          <a:lstStyle/>
          <a:p>
            <a:pPr>
              <a:defRPr sz="2600" b="1">
                <a:solidFill>
                  <a:srgbClr val="182B49"/>
                </a:solidFill>
                <a:latin typeface="Times New Roman"/>
              </a:defRPr>
            </a:pPr>
            <a:r>
              <a:t>An Integrated Distributed Framework for Automated Lifecycle Classification and Redundancy Mitigation in Large-Scale Repositories</a:t>
            </a:r>
          </a:p>
          <a:p>
            <a:pPr>
              <a:spcBef>
                <a:spcPts val="800"/>
              </a:spcBef>
              <a:defRPr sz="1300" i="1">
                <a:solidFill>
                  <a:srgbClr val="7F8C8D"/>
                </a:solidFill>
                <a:latin typeface="Times New Roman"/>
              </a:defRPr>
            </a:pPr>
            <a:r>
              <a:t>Department of Networking and Communications | School of Computing | SRM Institute of Science &amp; Technology</a:t>
            </a:r>
          </a:p>
        </p:txBody>
      </p:sp>
      <p:sp>
        <p:nvSpPr>
          <p:cNvPr id="6" name="Rectangle 5"/>
          <p:cNvSpPr/>
          <p:nvPr/>
        </p:nvSpPr>
        <p:spPr>
          <a:xfrm>
            <a:off x="548640" y="2834640"/>
            <a:ext cx="8046720" cy="1905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3063240"/>
            <a:ext cx="3566160" cy="274320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200" b="1">
                <a:solidFill>
                  <a:srgbClr val="1F4E79"/>
                </a:solidFill>
                <a:latin typeface="Times New Roman"/>
              </a:defRPr>
            </a:pPr>
            <a:r>
              <a:t>UNDER THE GUIDANCE OF</a:t>
            </a:r>
          </a:p>
          <a:p>
            <a:pPr>
              <a:spcBef>
                <a:spcPts val="1000"/>
              </a:spcBef>
              <a:defRPr sz="1700" b="1">
                <a:solidFill>
                  <a:srgbClr val="182B49"/>
                </a:solidFill>
                <a:latin typeface="Times New Roman"/>
              </a:defRPr>
            </a:pPr>
            <a:r>
              <a:t>Dr. SHANMUGANATHAN V</a:t>
            </a:r>
          </a:p>
          <a:p>
            <a:pPr>
              <a:spcBef>
                <a:spcPts val="600"/>
              </a:spcBef>
              <a:defRPr sz="1200">
                <a:solidFill>
                  <a:srgbClr val="2C3E50"/>
                </a:solidFill>
                <a:latin typeface="Times New Roman"/>
              </a:defRPr>
            </a:pPr>
            <a:r>
              <a:t>Assistant Professor</a:t>
            </a:r>
            <a:br/>
            <a:r>
              <a:t>Department of Networking and Communications</a:t>
            </a:r>
            <a:br/>
            <a:r>
              <a:t>School of Computing, SRMIST</a:t>
            </a:r>
          </a:p>
        </p:txBody>
      </p:sp>
      <p:sp>
        <p:nvSpPr>
          <p:cNvPr id="8" name="Rounded Rectangle 7"/>
          <p:cNvSpPr/>
          <p:nvPr/>
        </p:nvSpPr>
        <p:spPr>
          <a:xfrm>
            <a:off x="4297680" y="3063240"/>
            <a:ext cx="4297680" cy="274320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200" b="1">
                <a:solidFill>
                  <a:srgbClr val="1F4E79"/>
                </a:solidFill>
                <a:latin typeface="Times New Roman"/>
              </a:defRPr>
            </a:pPr>
            <a:r>
              <a:t>PROJECT TEAM MEMBERS (BATCH 10)</a:t>
            </a:r>
          </a:p>
          <a:p>
            <a:pPr>
              <a:spcBef>
                <a:spcPts val="500"/>
              </a:spcBef>
              <a:defRPr sz="1100" b="0">
                <a:solidFill>
                  <a:srgbClr val="2C3E50"/>
                </a:solidFill>
                <a:latin typeface="Times New Roman"/>
              </a:defRPr>
            </a:pPr>
            <a:r>
              <a:t>• SHANMUGA PRIYAN P  (RA2411031010008)</a:t>
            </a:r>
            <a:br/>
            <a:r>
              <a:t>   Role: Data Ingestion &amp; Preprocessing</a:t>
            </a:r>
          </a:p>
          <a:p>
            <a:pPr>
              <a:spcBef>
                <a:spcPts val="500"/>
              </a:spcBef>
              <a:defRPr sz="1100" b="0">
                <a:solidFill>
                  <a:srgbClr val="2C3E50"/>
                </a:solidFill>
                <a:latin typeface="Times New Roman"/>
              </a:defRPr>
            </a:pPr>
            <a:r>
              <a:t>• V DHARANI  (RA2411031010012)</a:t>
            </a:r>
            <a:br/>
            <a:r>
              <a:t>   Role: Benchmarking &amp; Lifecycle Heuristics</a:t>
            </a:r>
          </a:p>
          <a:p>
            <a:pPr>
              <a:spcBef>
                <a:spcPts val="500"/>
              </a:spcBef>
              <a:defRPr sz="1100" b="0">
                <a:solidFill>
                  <a:srgbClr val="2C3E50"/>
                </a:solidFill>
                <a:latin typeface="Times New Roman"/>
              </a:defRPr>
            </a:pPr>
            <a:r>
              <a:t>• S HARSHAN  (RA2411031010013)</a:t>
            </a:r>
            <a:br/>
            <a:r>
              <a:t>   Role: Feature Engineering &amp; Spark MLlib</a:t>
            </a:r>
          </a:p>
          <a:p>
            <a:pPr>
              <a:spcBef>
                <a:spcPts val="500"/>
              </a:spcBef>
              <a:defRPr sz="1100" b="0">
                <a:solidFill>
                  <a:srgbClr val="2C3E50"/>
                </a:solidFill>
                <a:latin typeface="Times New Roman"/>
              </a:defRPr>
            </a:pPr>
            <a:r>
              <a:t>• RAMESHVAR S  (RA2411031010030)</a:t>
            </a:r>
            <a:br/>
            <a:r>
              <a:t>   Role: Redundancy Engine &amp; Dashboard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Contents</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sp>
        <p:nvSpPr>
          <p:cNvPr id="6" name="Rounded Rectangle 5"/>
          <p:cNvSpPr/>
          <p:nvPr/>
        </p:nvSpPr>
        <p:spPr>
          <a:xfrm>
            <a:off x="457200" y="1188720"/>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66928" y="1316736"/>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1</a:t>
            </a:r>
          </a:p>
        </p:txBody>
      </p:sp>
      <p:sp>
        <p:nvSpPr>
          <p:cNvPr id="8" name="TextBox 7"/>
          <p:cNvSpPr txBox="1"/>
          <p:nvPr/>
        </p:nvSpPr>
        <p:spPr>
          <a:xfrm>
            <a:off x="1115568" y="1261872"/>
            <a:ext cx="3246120" cy="594360"/>
          </a:xfrm>
          <a:prstGeom prst="rect">
            <a:avLst/>
          </a:prstGeom>
          <a:noFill/>
        </p:spPr>
        <p:txBody>
          <a:bodyPr wrap="square" lIns="0" tIns="0" rIns="0" bIns="0">
            <a:spAutoFit/>
          </a:bodyPr>
          <a:lstStyle/>
          <a:p>
            <a:pPr>
              <a:defRPr sz="1200" b="1">
                <a:solidFill>
                  <a:srgbClr val="182B49"/>
                </a:solidFill>
                <a:latin typeface="Times New Roman"/>
              </a:defRPr>
            </a:pPr>
            <a:r>
              <a:t>Dataset Profile &amp; Metadata</a:t>
            </a:r>
          </a:p>
          <a:p>
            <a:pPr>
              <a:spcBef>
                <a:spcPts val="200"/>
              </a:spcBef>
              <a:defRPr sz="1000">
                <a:solidFill>
                  <a:srgbClr val="7F8C8D"/>
                </a:solidFill>
                <a:latin typeface="Times New Roman"/>
              </a:defRPr>
            </a:pPr>
            <a:r>
              <a:t>CLUE-LDS benchmark repository overview</a:t>
            </a:r>
          </a:p>
        </p:txBody>
      </p:sp>
      <p:sp>
        <p:nvSpPr>
          <p:cNvPr id="9" name="Rounded Rectangle 8"/>
          <p:cNvSpPr/>
          <p:nvPr/>
        </p:nvSpPr>
        <p:spPr>
          <a:xfrm>
            <a:off x="457200" y="1975104"/>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6928" y="2103120"/>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2</a:t>
            </a:r>
          </a:p>
        </p:txBody>
      </p:sp>
      <p:sp>
        <p:nvSpPr>
          <p:cNvPr id="11" name="TextBox 10"/>
          <p:cNvSpPr txBox="1"/>
          <p:nvPr/>
        </p:nvSpPr>
        <p:spPr>
          <a:xfrm>
            <a:off x="1115568" y="2048256"/>
            <a:ext cx="3246120" cy="594360"/>
          </a:xfrm>
          <a:prstGeom prst="rect">
            <a:avLst/>
          </a:prstGeom>
          <a:noFill/>
        </p:spPr>
        <p:txBody>
          <a:bodyPr wrap="square" lIns="0" tIns="0" rIns="0" bIns="0">
            <a:spAutoFit/>
          </a:bodyPr>
          <a:lstStyle/>
          <a:p>
            <a:pPr>
              <a:defRPr sz="1200" b="1">
                <a:solidFill>
                  <a:srgbClr val="182B49"/>
                </a:solidFill>
                <a:latin typeface="Times New Roman"/>
              </a:defRPr>
            </a:pPr>
            <a:r>
              <a:t>Proposed Model Architecture</a:t>
            </a:r>
          </a:p>
          <a:p>
            <a:pPr>
              <a:spcBef>
                <a:spcPts val="200"/>
              </a:spcBef>
              <a:defRPr sz="1000">
                <a:solidFill>
                  <a:srgbClr val="7F8C8D"/>
                </a:solidFill>
                <a:latin typeface="Times New Roman"/>
              </a:defRPr>
            </a:pPr>
            <a:r>
              <a:t>Distributed Spark MLlib Random Forest model</a:t>
            </a:r>
          </a:p>
        </p:txBody>
      </p:sp>
      <p:sp>
        <p:nvSpPr>
          <p:cNvPr id="12" name="Rounded Rectangle 11"/>
          <p:cNvSpPr/>
          <p:nvPr/>
        </p:nvSpPr>
        <p:spPr>
          <a:xfrm>
            <a:off x="457200" y="2761488"/>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6928" y="2889504"/>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3</a:t>
            </a:r>
          </a:p>
        </p:txBody>
      </p:sp>
      <p:sp>
        <p:nvSpPr>
          <p:cNvPr id="14" name="TextBox 13"/>
          <p:cNvSpPr txBox="1"/>
          <p:nvPr/>
        </p:nvSpPr>
        <p:spPr>
          <a:xfrm>
            <a:off x="1115568" y="2834640"/>
            <a:ext cx="3246120" cy="594360"/>
          </a:xfrm>
          <a:prstGeom prst="rect">
            <a:avLst/>
          </a:prstGeom>
          <a:noFill/>
        </p:spPr>
        <p:txBody>
          <a:bodyPr wrap="square" lIns="0" tIns="0" rIns="0" bIns="0">
            <a:spAutoFit/>
          </a:bodyPr>
          <a:lstStyle/>
          <a:p>
            <a:pPr>
              <a:defRPr sz="1200" b="1">
                <a:solidFill>
                  <a:srgbClr val="182B49"/>
                </a:solidFill>
                <a:latin typeface="Times New Roman"/>
              </a:defRPr>
            </a:pPr>
            <a:r>
              <a:t>Overall System Architecture</a:t>
            </a:r>
          </a:p>
          <a:p>
            <a:pPr>
              <a:spcBef>
                <a:spcPts val="200"/>
              </a:spcBef>
              <a:defRPr sz="1000">
                <a:solidFill>
                  <a:srgbClr val="7F8C8D"/>
                </a:solidFill>
                <a:latin typeface="Times New Roman"/>
              </a:defRPr>
            </a:pPr>
            <a:r>
              <a:t>4-tier end-to-end distributed pipeline diagram</a:t>
            </a:r>
          </a:p>
        </p:txBody>
      </p:sp>
      <p:sp>
        <p:nvSpPr>
          <p:cNvPr id="15" name="Rounded Rectangle 14"/>
          <p:cNvSpPr/>
          <p:nvPr/>
        </p:nvSpPr>
        <p:spPr>
          <a:xfrm>
            <a:off x="457200" y="3547872"/>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6928" y="3675887"/>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4</a:t>
            </a:r>
          </a:p>
        </p:txBody>
      </p:sp>
      <p:sp>
        <p:nvSpPr>
          <p:cNvPr id="17" name="TextBox 16"/>
          <p:cNvSpPr txBox="1"/>
          <p:nvPr/>
        </p:nvSpPr>
        <p:spPr>
          <a:xfrm>
            <a:off x="1115568" y="3621024"/>
            <a:ext cx="3246120" cy="594360"/>
          </a:xfrm>
          <a:prstGeom prst="rect">
            <a:avLst/>
          </a:prstGeom>
          <a:noFill/>
        </p:spPr>
        <p:txBody>
          <a:bodyPr wrap="square" lIns="0" tIns="0" rIns="0" bIns="0">
            <a:spAutoFit/>
          </a:bodyPr>
          <a:lstStyle/>
          <a:p>
            <a:pPr>
              <a:defRPr sz="1200" b="1">
                <a:solidFill>
                  <a:srgbClr val="182B49"/>
                </a:solidFill>
                <a:latin typeface="Times New Roman"/>
              </a:defRPr>
            </a:pPr>
            <a:r>
              <a:t>Preprocessing (Big Data Analysis)</a:t>
            </a:r>
          </a:p>
          <a:p>
            <a:pPr>
              <a:spcBef>
                <a:spcPts val="200"/>
              </a:spcBef>
              <a:defRPr sz="1000">
                <a:solidFill>
                  <a:srgbClr val="7F8C8D"/>
                </a:solidFill>
                <a:latin typeface="Times New Roman"/>
              </a:defRPr>
            </a:pPr>
            <a:r>
              <a:t>Distributed parsing, cleaning &amp; vector assembly</a:t>
            </a:r>
          </a:p>
        </p:txBody>
      </p:sp>
      <p:sp>
        <p:nvSpPr>
          <p:cNvPr id="18" name="Rounded Rectangle 17"/>
          <p:cNvSpPr/>
          <p:nvPr/>
        </p:nvSpPr>
        <p:spPr>
          <a:xfrm>
            <a:off x="457200" y="4334256"/>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4462272"/>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5</a:t>
            </a:r>
          </a:p>
        </p:txBody>
      </p:sp>
      <p:sp>
        <p:nvSpPr>
          <p:cNvPr id="20" name="TextBox 19"/>
          <p:cNvSpPr txBox="1"/>
          <p:nvPr/>
        </p:nvSpPr>
        <p:spPr>
          <a:xfrm>
            <a:off x="1115568" y="4407408"/>
            <a:ext cx="3246120" cy="594360"/>
          </a:xfrm>
          <a:prstGeom prst="rect">
            <a:avLst/>
          </a:prstGeom>
          <a:noFill/>
        </p:spPr>
        <p:txBody>
          <a:bodyPr wrap="square" lIns="0" tIns="0" rIns="0" bIns="0">
            <a:spAutoFit/>
          </a:bodyPr>
          <a:lstStyle/>
          <a:p>
            <a:pPr>
              <a:defRPr sz="1200" b="1">
                <a:solidFill>
                  <a:srgbClr val="182B49"/>
                </a:solidFill>
                <a:latin typeface="Times New Roman"/>
              </a:defRPr>
            </a:pPr>
            <a:r>
              <a:t>Results of Preprocessing</a:t>
            </a:r>
          </a:p>
          <a:p>
            <a:pPr>
              <a:spcBef>
                <a:spcPts val="200"/>
              </a:spcBef>
              <a:defRPr sz="1000">
                <a:solidFill>
                  <a:srgbClr val="7F8C8D"/>
                </a:solidFill>
                <a:latin typeface="Times New Roman"/>
              </a:defRPr>
            </a:pPr>
            <a:r>
              <a:t>Temporal feature distribution &amp; class balance</a:t>
            </a:r>
          </a:p>
        </p:txBody>
      </p:sp>
      <p:sp>
        <p:nvSpPr>
          <p:cNvPr id="21" name="Rounded Rectangle 20"/>
          <p:cNvSpPr/>
          <p:nvPr/>
        </p:nvSpPr>
        <p:spPr>
          <a:xfrm>
            <a:off x="457200" y="5120640"/>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6928" y="5248656"/>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6</a:t>
            </a:r>
          </a:p>
        </p:txBody>
      </p:sp>
      <p:sp>
        <p:nvSpPr>
          <p:cNvPr id="23" name="TextBox 22"/>
          <p:cNvSpPr txBox="1"/>
          <p:nvPr/>
        </p:nvSpPr>
        <p:spPr>
          <a:xfrm>
            <a:off x="1115568" y="5193792"/>
            <a:ext cx="3246120" cy="594360"/>
          </a:xfrm>
          <a:prstGeom prst="rect">
            <a:avLst/>
          </a:prstGeom>
          <a:noFill/>
        </p:spPr>
        <p:txBody>
          <a:bodyPr wrap="square" lIns="0" tIns="0" rIns="0" bIns="0">
            <a:spAutoFit/>
          </a:bodyPr>
          <a:lstStyle/>
          <a:p>
            <a:pPr>
              <a:defRPr sz="1200" b="1">
                <a:solidFill>
                  <a:srgbClr val="182B49"/>
                </a:solidFill>
                <a:latin typeface="Times New Roman"/>
              </a:defRPr>
            </a:pPr>
            <a:r>
              <a:t>Classification (Proposed Classifier)</a:t>
            </a:r>
          </a:p>
          <a:p>
            <a:pPr>
              <a:spcBef>
                <a:spcPts val="200"/>
              </a:spcBef>
              <a:defRPr sz="1000">
                <a:solidFill>
                  <a:srgbClr val="7F8C8D"/>
                </a:solidFill>
                <a:latin typeface="Times New Roman"/>
              </a:defRPr>
            </a:pPr>
            <a:r>
              <a:t>Mathematical formulation &amp; MLlib bagging</a:t>
            </a:r>
          </a:p>
        </p:txBody>
      </p:sp>
      <p:sp>
        <p:nvSpPr>
          <p:cNvPr id="24" name="Rounded Rectangle 23"/>
          <p:cNvSpPr/>
          <p:nvPr/>
        </p:nvSpPr>
        <p:spPr>
          <a:xfrm>
            <a:off x="4709160" y="1188720"/>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18888" y="1316736"/>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7</a:t>
            </a:r>
          </a:p>
        </p:txBody>
      </p:sp>
      <p:sp>
        <p:nvSpPr>
          <p:cNvPr id="26" name="TextBox 25"/>
          <p:cNvSpPr txBox="1"/>
          <p:nvPr/>
        </p:nvSpPr>
        <p:spPr>
          <a:xfrm>
            <a:off x="5367528" y="1261872"/>
            <a:ext cx="3246120" cy="594360"/>
          </a:xfrm>
          <a:prstGeom prst="rect">
            <a:avLst/>
          </a:prstGeom>
          <a:noFill/>
        </p:spPr>
        <p:txBody>
          <a:bodyPr wrap="square" lIns="0" tIns="0" rIns="0" bIns="0">
            <a:spAutoFit/>
          </a:bodyPr>
          <a:lstStyle/>
          <a:p>
            <a:pPr>
              <a:defRPr sz="1200" b="1">
                <a:solidFill>
                  <a:srgbClr val="182B49"/>
                </a:solidFill>
                <a:latin typeface="Times New Roman"/>
              </a:defRPr>
            </a:pPr>
            <a:r>
              <a:t>Results of Classification</a:t>
            </a:r>
          </a:p>
          <a:p>
            <a:pPr>
              <a:spcBef>
                <a:spcPts val="200"/>
              </a:spcBef>
              <a:defRPr sz="1000">
                <a:solidFill>
                  <a:srgbClr val="7F8C8D"/>
                </a:solidFill>
                <a:latin typeface="Times New Roman"/>
              </a:defRPr>
            </a:pPr>
            <a:r>
              <a:t>Confusion matrix &amp; multi-class metrics</a:t>
            </a:r>
          </a:p>
        </p:txBody>
      </p:sp>
      <p:sp>
        <p:nvSpPr>
          <p:cNvPr id="27" name="Rounded Rectangle 26"/>
          <p:cNvSpPr/>
          <p:nvPr/>
        </p:nvSpPr>
        <p:spPr>
          <a:xfrm>
            <a:off x="4709160" y="1975104"/>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818888" y="2103120"/>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8</a:t>
            </a:r>
          </a:p>
        </p:txBody>
      </p:sp>
      <p:sp>
        <p:nvSpPr>
          <p:cNvPr id="29" name="TextBox 28"/>
          <p:cNvSpPr txBox="1"/>
          <p:nvPr/>
        </p:nvSpPr>
        <p:spPr>
          <a:xfrm>
            <a:off x="5367528" y="2048256"/>
            <a:ext cx="3246120" cy="594360"/>
          </a:xfrm>
          <a:prstGeom prst="rect">
            <a:avLst/>
          </a:prstGeom>
          <a:noFill/>
        </p:spPr>
        <p:txBody>
          <a:bodyPr wrap="square" lIns="0" tIns="0" rIns="0" bIns="0">
            <a:spAutoFit/>
          </a:bodyPr>
          <a:lstStyle/>
          <a:p>
            <a:pPr>
              <a:defRPr sz="1200" b="1">
                <a:solidFill>
                  <a:srgbClr val="182B49"/>
                </a:solidFill>
                <a:latin typeface="Times New Roman"/>
              </a:defRPr>
            </a:pPr>
            <a:r>
              <a:t>Comparison with Baseline Models</a:t>
            </a:r>
          </a:p>
          <a:p>
            <a:pPr>
              <a:spcBef>
                <a:spcPts val="200"/>
              </a:spcBef>
              <a:defRPr sz="1000">
                <a:solidFill>
                  <a:srgbClr val="7F8C8D"/>
                </a:solidFill>
                <a:latin typeface="Times New Roman"/>
              </a:defRPr>
            </a:pPr>
            <a:r>
              <a:t>Benchmarking vs LR, Decision Tree, GBT</a:t>
            </a:r>
          </a:p>
        </p:txBody>
      </p:sp>
      <p:sp>
        <p:nvSpPr>
          <p:cNvPr id="30" name="Rounded Rectangle 29"/>
          <p:cNvSpPr/>
          <p:nvPr/>
        </p:nvSpPr>
        <p:spPr>
          <a:xfrm>
            <a:off x="4709160" y="2761488"/>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818888" y="2889504"/>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9</a:t>
            </a:r>
          </a:p>
        </p:txBody>
      </p:sp>
      <p:sp>
        <p:nvSpPr>
          <p:cNvPr id="32" name="TextBox 31"/>
          <p:cNvSpPr txBox="1"/>
          <p:nvPr/>
        </p:nvSpPr>
        <p:spPr>
          <a:xfrm>
            <a:off x="5367528" y="2834640"/>
            <a:ext cx="3246120" cy="594360"/>
          </a:xfrm>
          <a:prstGeom prst="rect">
            <a:avLst/>
          </a:prstGeom>
          <a:noFill/>
        </p:spPr>
        <p:txBody>
          <a:bodyPr wrap="square" lIns="0" tIns="0" rIns="0" bIns="0">
            <a:spAutoFit/>
          </a:bodyPr>
          <a:lstStyle/>
          <a:p>
            <a:pPr>
              <a:defRPr sz="1200" b="1">
                <a:solidFill>
                  <a:srgbClr val="182B49"/>
                </a:solidFill>
                <a:latin typeface="Times New Roman"/>
              </a:defRPr>
            </a:pPr>
            <a:r>
              <a:t>Plan of Action / Member Tasks</a:t>
            </a:r>
          </a:p>
          <a:p>
            <a:pPr>
              <a:spcBef>
                <a:spcPts val="200"/>
              </a:spcBef>
              <a:defRPr sz="1000">
                <a:solidFill>
                  <a:srgbClr val="7F8C8D"/>
                </a:solidFill>
                <a:latin typeface="Times New Roman"/>
              </a:defRPr>
            </a:pPr>
            <a:r>
              <a:t>Work breakdown &amp; 80%+ progress milestone</a:t>
            </a:r>
          </a:p>
        </p:txBody>
      </p:sp>
      <p:sp>
        <p:nvSpPr>
          <p:cNvPr id="33" name="Rounded Rectangle 32"/>
          <p:cNvSpPr/>
          <p:nvPr/>
        </p:nvSpPr>
        <p:spPr>
          <a:xfrm>
            <a:off x="4709160" y="3547872"/>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818888" y="3675887"/>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10</a:t>
            </a:r>
          </a:p>
        </p:txBody>
      </p:sp>
      <p:sp>
        <p:nvSpPr>
          <p:cNvPr id="35" name="TextBox 34"/>
          <p:cNvSpPr txBox="1"/>
          <p:nvPr/>
        </p:nvSpPr>
        <p:spPr>
          <a:xfrm>
            <a:off x="5367528" y="3621024"/>
            <a:ext cx="3246120" cy="594360"/>
          </a:xfrm>
          <a:prstGeom prst="rect">
            <a:avLst/>
          </a:prstGeom>
          <a:noFill/>
        </p:spPr>
        <p:txBody>
          <a:bodyPr wrap="square" lIns="0" tIns="0" rIns="0" bIns="0">
            <a:spAutoFit/>
          </a:bodyPr>
          <a:lstStyle/>
          <a:p>
            <a:pPr>
              <a:defRPr sz="1200" b="1">
                <a:solidFill>
                  <a:srgbClr val="182B49"/>
                </a:solidFill>
                <a:latin typeface="Times New Roman"/>
              </a:defRPr>
            </a:pPr>
            <a:r>
              <a:t>References</a:t>
            </a:r>
          </a:p>
          <a:p>
            <a:pPr>
              <a:spcBef>
                <a:spcPts val="200"/>
              </a:spcBef>
              <a:defRPr sz="1000">
                <a:solidFill>
                  <a:srgbClr val="7F8C8D"/>
                </a:solidFill>
                <a:latin typeface="Times New Roman"/>
              </a:defRPr>
            </a:pPr>
            <a:r>
              <a:t>Primary IEEE &amp; Springer research citations</a:t>
            </a:r>
          </a:p>
        </p:txBody>
      </p:sp>
      <p:sp>
        <p:nvSpPr>
          <p:cNvPr id="36" name="Rounded Rectangle 35"/>
          <p:cNvSpPr/>
          <p:nvPr/>
        </p:nvSpPr>
        <p:spPr>
          <a:xfrm>
            <a:off x="4709160" y="4334256"/>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818888" y="4462272"/>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11</a:t>
            </a:r>
          </a:p>
        </p:txBody>
      </p:sp>
      <p:sp>
        <p:nvSpPr>
          <p:cNvPr id="38" name="TextBox 37"/>
          <p:cNvSpPr txBox="1"/>
          <p:nvPr/>
        </p:nvSpPr>
        <p:spPr>
          <a:xfrm>
            <a:off x="5367528" y="4407408"/>
            <a:ext cx="3246120" cy="594360"/>
          </a:xfrm>
          <a:prstGeom prst="rect">
            <a:avLst/>
          </a:prstGeom>
          <a:noFill/>
        </p:spPr>
        <p:txBody>
          <a:bodyPr wrap="square" lIns="0" tIns="0" rIns="0" bIns="0">
            <a:spAutoFit/>
          </a:bodyPr>
          <a:lstStyle/>
          <a:p>
            <a:pPr>
              <a:defRPr sz="1200" b="1">
                <a:solidFill>
                  <a:srgbClr val="182B49"/>
                </a:solidFill>
                <a:latin typeface="Times New Roman"/>
              </a:defRPr>
            </a:pPr>
            <a:r>
              <a:t>Geotagged Presentation Photo</a:t>
            </a:r>
          </a:p>
          <a:p>
            <a:pPr>
              <a:spcBef>
                <a:spcPts val="200"/>
              </a:spcBef>
              <a:defRPr sz="1000">
                <a:solidFill>
                  <a:srgbClr val="7F8C8D"/>
                </a:solidFill>
                <a:latin typeface="Times New Roman"/>
              </a:defRPr>
            </a:pPr>
            <a:r>
              <a:t>Review 2 presentation session documentation</a:t>
            </a:r>
          </a:p>
        </p:txBody>
      </p:sp>
      <p:sp>
        <p:nvSpPr>
          <p:cNvPr id="39" name="Rounded Rectangle 38"/>
          <p:cNvSpPr/>
          <p:nvPr/>
        </p:nvSpPr>
        <p:spPr>
          <a:xfrm>
            <a:off x="4709160" y="5120640"/>
            <a:ext cx="3977639"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818888" y="5248656"/>
            <a:ext cx="457200" cy="4572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mes New Roman"/>
              </a:defRPr>
            </a:pPr>
            <a:r>
              <a:t>12</a:t>
            </a:r>
          </a:p>
        </p:txBody>
      </p:sp>
      <p:sp>
        <p:nvSpPr>
          <p:cNvPr id="41" name="TextBox 40"/>
          <p:cNvSpPr txBox="1"/>
          <p:nvPr/>
        </p:nvSpPr>
        <p:spPr>
          <a:xfrm>
            <a:off x="5367528" y="5193792"/>
            <a:ext cx="3246120" cy="594360"/>
          </a:xfrm>
          <a:prstGeom prst="rect">
            <a:avLst/>
          </a:prstGeom>
          <a:noFill/>
        </p:spPr>
        <p:txBody>
          <a:bodyPr wrap="square" lIns="0" tIns="0" rIns="0" bIns="0">
            <a:spAutoFit/>
          </a:bodyPr>
          <a:lstStyle/>
          <a:p>
            <a:pPr>
              <a:defRPr sz="1200" b="1">
                <a:solidFill>
                  <a:srgbClr val="182B49"/>
                </a:solidFill>
                <a:latin typeface="Times New Roman"/>
              </a:defRPr>
            </a:pPr>
            <a:r>
              <a:t>Google Colab Implementation</a:t>
            </a:r>
          </a:p>
          <a:p>
            <a:pPr>
              <a:spcBef>
                <a:spcPts val="200"/>
              </a:spcBef>
              <a:defRPr sz="1000">
                <a:solidFill>
                  <a:srgbClr val="7F8C8D"/>
                </a:solidFill>
                <a:latin typeface="Times New Roman"/>
              </a:defRPr>
            </a:pPr>
            <a:r>
              <a:t>Runnable notebook link &amp; code repository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Dataset Profile &amp; Big Data Source</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sp>
        <p:nvSpPr>
          <p:cNvPr id="6" name="Rounded Rectangle 5"/>
          <p:cNvSpPr/>
          <p:nvPr/>
        </p:nvSpPr>
        <p:spPr>
          <a:xfrm>
            <a:off x="457200" y="1188720"/>
            <a:ext cx="3977639" cy="47091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F4E79"/>
                </a:solidFill>
                <a:latin typeface="Times New Roman"/>
              </a:defRPr>
            </a:pPr>
            <a:r>
              <a:t>CLUE-LDS BENCHMARK REPOSITORY</a:t>
            </a:r>
          </a:p>
          <a:p>
            <a:pPr>
              <a:spcBef>
                <a:spcPts val="600"/>
              </a:spcBef>
              <a:defRPr sz="1100" b="1">
                <a:solidFill>
                  <a:srgbClr val="182B49"/>
                </a:solidFill>
                <a:latin typeface="Times New Roman"/>
              </a:defRPr>
            </a:pPr>
            <a:r>
              <a:t>• Source Repository:</a:t>
            </a:r>
          </a:p>
          <a:p>
            <a:pPr>
              <a:defRPr sz="1050">
                <a:solidFill>
                  <a:srgbClr val="2C3E50"/>
                </a:solidFill>
                <a:latin typeface="Times New Roman"/>
              </a:defRPr>
            </a:pPr>
            <a:r>
              <a:t>   Zenodo Open Archive (doi: 10.5281/zenodo.7119953)</a:t>
            </a:r>
          </a:p>
          <a:p>
            <a:pPr>
              <a:spcBef>
                <a:spcPts val="600"/>
              </a:spcBef>
              <a:defRPr sz="1100" b="1">
                <a:solidFill>
                  <a:srgbClr val="182B49"/>
                </a:solidFill>
                <a:latin typeface="Times New Roman"/>
              </a:defRPr>
            </a:pPr>
            <a:r>
              <a:t>• Domain Focus:</a:t>
            </a:r>
          </a:p>
          <a:p>
            <a:pPr>
              <a:defRPr sz="1050">
                <a:solidFill>
                  <a:srgbClr val="2C3E50"/>
                </a:solidFill>
                <a:latin typeface="Times New Roman"/>
              </a:defRPr>
            </a:pPr>
            <a:r>
              <a:t>   Cloud-based User Entity Behavior Analytics Log Dataset</a:t>
            </a:r>
          </a:p>
          <a:p>
            <a:pPr>
              <a:spcBef>
                <a:spcPts val="600"/>
              </a:spcBef>
              <a:defRPr sz="1100" b="1">
                <a:solidFill>
                  <a:srgbClr val="182B49"/>
                </a:solidFill>
                <a:latin typeface="Times New Roman"/>
              </a:defRPr>
            </a:pPr>
            <a:r>
              <a:t>• Raw Log Volume:</a:t>
            </a:r>
          </a:p>
          <a:p>
            <a:pPr>
              <a:defRPr sz="1050">
                <a:solidFill>
                  <a:srgbClr val="2C3E50"/>
                </a:solidFill>
                <a:latin typeface="Times New Roman"/>
              </a:defRPr>
            </a:pPr>
            <a:r>
              <a:t>   100,000 recorded file lifecycle events</a:t>
            </a:r>
          </a:p>
          <a:p>
            <a:pPr>
              <a:spcBef>
                <a:spcPts val="600"/>
              </a:spcBef>
              <a:defRPr sz="1100" b="1">
                <a:solidFill>
                  <a:srgbClr val="182B49"/>
                </a:solidFill>
                <a:latin typeface="Times New Roman"/>
              </a:defRPr>
            </a:pPr>
            <a:r>
              <a:t>• Unique File Entities:</a:t>
            </a:r>
          </a:p>
          <a:p>
            <a:pPr>
              <a:defRPr sz="1050">
                <a:solidFill>
                  <a:srgbClr val="2C3E50"/>
                </a:solidFill>
                <a:latin typeface="Times New Roman"/>
              </a:defRPr>
            </a:pPr>
            <a:r>
              <a:t>   7,982 enterprise repository files</a:t>
            </a:r>
          </a:p>
          <a:p>
            <a:pPr>
              <a:spcBef>
                <a:spcPts val="600"/>
              </a:spcBef>
              <a:defRPr sz="1100" b="1">
                <a:solidFill>
                  <a:srgbClr val="182B49"/>
                </a:solidFill>
                <a:latin typeface="Times New Roman"/>
              </a:defRPr>
            </a:pPr>
            <a:r>
              <a:t>• Temporal Window:</a:t>
            </a:r>
          </a:p>
          <a:p>
            <a:pPr>
              <a:defRPr sz="1050">
                <a:solidFill>
                  <a:srgbClr val="2C3E50"/>
                </a:solidFill>
                <a:latin typeface="Times New Roman"/>
              </a:defRPr>
            </a:pPr>
            <a:r>
              <a:t>   Observed across dense enterprise access periods</a:t>
            </a:r>
          </a:p>
          <a:p>
            <a:pPr>
              <a:spcBef>
                <a:spcPts val="600"/>
              </a:spcBef>
              <a:defRPr sz="1100" b="1">
                <a:solidFill>
                  <a:srgbClr val="182B49"/>
                </a:solidFill>
                <a:latin typeface="Times New Roman"/>
              </a:defRPr>
            </a:pPr>
            <a:r>
              <a:t>• Core Extracted Attributes:</a:t>
            </a:r>
          </a:p>
          <a:p>
            <a:pPr>
              <a:defRPr sz="1050">
                <a:solidFill>
                  <a:srgbClr val="2C3E50"/>
                </a:solidFill>
                <a:latin typeface="Times New Roman"/>
              </a:defRPr>
            </a:pPr>
            <a:r>
              <a:t>   Event ID, Timestamp, User ID, Event Type, File Path, File Size (MB), Access Frequency</a:t>
            </a:r>
          </a:p>
        </p:txBody>
      </p:sp>
      <p:sp>
        <p:nvSpPr>
          <p:cNvPr id="7" name="Rounded Rectangle 6"/>
          <p:cNvSpPr/>
          <p:nvPr/>
        </p:nvSpPr>
        <p:spPr>
          <a:xfrm>
            <a:off x="4709160" y="1188720"/>
            <a:ext cx="3977639" cy="47091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F4E79"/>
                </a:solidFill>
                <a:latin typeface="Times New Roman"/>
              </a:defRPr>
            </a:pPr>
            <a:r>
              <a:t>EVENT TAXONOMY &amp; MULTI-CLASS TARGETS</a:t>
            </a:r>
          </a:p>
          <a:p>
            <a:pPr>
              <a:spcBef>
                <a:spcPts val="300"/>
              </a:spcBef>
              <a:defRPr sz="1050">
                <a:solidFill>
                  <a:srgbClr val="2C3E50"/>
                </a:solidFill>
                <a:latin typeface="Times New Roman"/>
              </a:defRPr>
            </a:pPr>
            <a:r>
              <a:t>• File-Access Events: 33,389 events (Primary lifecycle metric)</a:t>
            </a:r>
          </a:p>
          <a:p>
            <a:pPr>
              <a:spcBef>
                <a:spcPts val="300"/>
              </a:spcBef>
              <a:defRPr sz="1050">
                <a:solidFill>
                  <a:srgbClr val="2C3E50"/>
                </a:solidFill>
                <a:latin typeface="Times New Roman"/>
              </a:defRPr>
            </a:pPr>
            <a:r>
              <a:t>• File-Write Events: 4,306 events (Modification indicator)</a:t>
            </a:r>
          </a:p>
          <a:p>
            <a:pPr>
              <a:spcBef>
                <a:spcPts val="300"/>
              </a:spcBef>
              <a:defRPr sz="1050">
                <a:solidFill>
                  <a:srgbClr val="2C3E50"/>
                </a:solidFill>
                <a:latin typeface="Times New Roman"/>
              </a:defRPr>
            </a:pPr>
            <a:r>
              <a:t>• File-Update Events: 3,954 events (Version delta indicator)</a:t>
            </a:r>
          </a:p>
          <a:p>
            <a:pPr>
              <a:spcBef>
                <a:spcPts val="300"/>
              </a:spcBef>
              <a:defRPr sz="1050">
                <a:solidFill>
                  <a:srgbClr val="2C3E50"/>
                </a:solidFill>
                <a:latin typeface="Times New Roman"/>
              </a:defRPr>
            </a:pPr>
            <a:r>
              <a:t>• Version-Deletion Events: 3,673 events (Purge indicator)</a:t>
            </a:r>
          </a:p>
          <a:p>
            <a:pPr>
              <a:spcBef>
                <a:spcPts val="1000"/>
              </a:spcBef>
              <a:defRPr sz="1150" b="1">
                <a:solidFill>
                  <a:srgbClr val="1F4E79"/>
                </a:solidFill>
                <a:latin typeface="Times New Roman"/>
              </a:defRPr>
            </a:pPr>
            <a:r>
              <a:t>TARGET LIFECYCLE HEURISTIC CLASSES:</a:t>
            </a:r>
          </a:p>
          <a:p>
            <a:pPr>
              <a:spcBef>
                <a:spcPts val="400"/>
              </a:spcBef>
              <a:defRPr sz="1050" b="1">
                <a:solidFill>
                  <a:srgbClr val="182B49"/>
                </a:solidFill>
                <a:latin typeface="Times New Roman"/>
              </a:defRPr>
            </a:pPr>
            <a:r>
              <a:t>• Class 0: Active (Hot Tier):</a:t>
            </a:r>
          </a:p>
          <a:p>
            <a:pPr>
              <a:defRPr sz="1000">
                <a:solidFill>
                  <a:srgbClr val="2C3E50"/>
                </a:solidFill>
                <a:latin typeface="Times New Roman"/>
              </a:defRPr>
            </a:pPr>
            <a:r>
              <a:t>   Inactivity &lt;= 30 days &amp; Access count &gt;= 5. Fast access storage required.</a:t>
            </a:r>
          </a:p>
          <a:p>
            <a:pPr>
              <a:spcBef>
                <a:spcPts val="400"/>
              </a:spcBef>
              <a:defRPr sz="1050" b="1">
                <a:solidFill>
                  <a:srgbClr val="182B49"/>
                </a:solidFill>
                <a:latin typeface="Times New Roman"/>
              </a:defRPr>
            </a:pPr>
            <a:r>
              <a:t>• Class 1: Rarely Accessed (Cool Tier):</a:t>
            </a:r>
          </a:p>
          <a:p>
            <a:pPr>
              <a:defRPr sz="1000">
                <a:solidFill>
                  <a:srgbClr val="2C3E50"/>
                </a:solidFill>
                <a:latin typeface="Times New Roman"/>
              </a:defRPr>
            </a:pPr>
            <a:r>
              <a:t>   Inactivity between 31 and 120 days. Suitable for lower-cost tiered storage.</a:t>
            </a:r>
          </a:p>
          <a:p>
            <a:pPr>
              <a:spcBef>
                <a:spcPts val="400"/>
              </a:spcBef>
              <a:defRPr sz="1050" b="1">
                <a:solidFill>
                  <a:srgbClr val="182B49"/>
                </a:solidFill>
                <a:latin typeface="Times New Roman"/>
              </a:defRPr>
            </a:pPr>
            <a:r>
              <a:t>• Class 2: Potentially Obsolete (ROT):</a:t>
            </a:r>
          </a:p>
          <a:p>
            <a:pPr>
              <a:defRPr sz="1000">
                <a:solidFill>
                  <a:srgbClr val="2C3E50"/>
                </a:solidFill>
                <a:latin typeface="Times New Roman"/>
              </a:defRPr>
            </a:pPr>
            <a:r>
              <a:t>   Inactivity &gt;= 121 days or access count &lt;= 2. Candidates for archival or purge.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Proposed Model: Distributed Spark MLlib Random Forest</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sp>
        <p:nvSpPr>
          <p:cNvPr id="6" name="Rounded Rectangle 5"/>
          <p:cNvSpPr/>
          <p:nvPr/>
        </p:nvSpPr>
        <p:spPr>
          <a:xfrm>
            <a:off x="457200" y="1188720"/>
            <a:ext cx="8229600" cy="1005840"/>
          </a:xfrm>
          <a:prstGeom prst="roundRect">
            <a:avLst/>
          </a:prstGeom>
          <a:solidFill>
            <a:srgbClr val="EBF5FF"/>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200" b="1">
                <a:solidFill>
                  <a:srgbClr val="1F4E79"/>
                </a:solidFill>
                <a:latin typeface="Times New Roman"/>
              </a:defRPr>
            </a:pPr>
            <a:r>
              <a:t>CORE PARADIGM: HORIZONTALLY SCALABLE LIFECYCLE TIERING</a:t>
            </a:r>
          </a:p>
          <a:p>
            <a:pPr>
              <a:spcBef>
                <a:spcPts val="400"/>
              </a:spcBef>
              <a:defRPr sz="1100">
                <a:solidFill>
                  <a:srgbClr val="2C3E50"/>
                </a:solidFill>
                <a:latin typeface="Times New Roman"/>
              </a:defRPr>
            </a:pPr>
            <a:r>
              <a:t>Enterprise repositories host petabytes of data with hundreds of millions of file event logs. Our proposed framework employs an Apache Spark MLlib Distributed Random Forest Classifier (50 Trees) to perform automated, multi-class storage tiering at wire speed.</a:t>
            </a:r>
          </a:p>
        </p:txBody>
      </p:sp>
      <p:sp>
        <p:nvSpPr>
          <p:cNvPr id="7" name="Rounded Rectangle 6"/>
          <p:cNvSpPr/>
          <p:nvPr/>
        </p:nvSpPr>
        <p:spPr>
          <a:xfrm>
            <a:off x="457200" y="2377440"/>
            <a:ext cx="2606040" cy="352044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1F4E79"/>
                </a:solidFill>
                <a:latin typeface="Times New Roman"/>
              </a:defRPr>
            </a:pPr>
            <a:r>
              <a:t>Why Distributed Spark MLlib?</a:t>
            </a:r>
          </a:p>
          <a:p>
            <a:pPr>
              <a:spcBef>
                <a:spcPts val="800"/>
              </a:spcBef>
              <a:defRPr sz="1050">
                <a:solidFill>
                  <a:srgbClr val="2C3E50"/>
                </a:solidFill>
                <a:latin typeface="Times New Roman"/>
              </a:defRPr>
            </a:pPr>
            <a:r>
              <a:t>• Single-node frameworks (Scikit-Learn) encounter Out-Of-Memory (OOM) failures on multi-GB event logs.</a:t>
            </a:r>
          </a:p>
          <a:p>
            <a:pPr>
              <a:spcBef>
                <a:spcPts val="800"/>
              </a:spcBef>
              <a:defRPr sz="1050">
                <a:solidFill>
                  <a:srgbClr val="2C3E50"/>
                </a:solidFill>
                <a:latin typeface="Times New Roman"/>
              </a:defRPr>
            </a:pPr>
            <a:r>
              <a:t>• Native distributed memory abstraction (RDDs / DataFrames) splits computation across worker executors.</a:t>
            </a:r>
          </a:p>
          <a:p>
            <a:pPr>
              <a:spcBef>
                <a:spcPts val="800"/>
              </a:spcBef>
              <a:defRPr sz="1050">
                <a:solidFill>
                  <a:srgbClr val="2C3E50"/>
                </a:solidFill>
                <a:latin typeface="Times New Roman"/>
              </a:defRPr>
            </a:pPr>
            <a:r>
              <a:t>• Parallel tree induction eliminates CPU and memory bottlenecks.</a:t>
            </a:r>
          </a:p>
        </p:txBody>
      </p:sp>
      <p:sp>
        <p:nvSpPr>
          <p:cNvPr id="8" name="Rounded Rectangle 7"/>
          <p:cNvSpPr/>
          <p:nvPr/>
        </p:nvSpPr>
        <p:spPr>
          <a:xfrm>
            <a:off x="3273552" y="2377440"/>
            <a:ext cx="2606040" cy="352044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16A085"/>
                </a:solidFill>
                <a:latin typeface="Times New Roman"/>
              </a:defRPr>
            </a:pPr>
            <a:r>
              <a:t>Novel Feature Aggregation</a:t>
            </a:r>
          </a:p>
          <a:p>
            <a:pPr>
              <a:spcBef>
                <a:spcPts val="800"/>
              </a:spcBef>
              <a:defRPr sz="1050">
                <a:solidFill>
                  <a:srgbClr val="2C3E50"/>
                </a:solidFill>
                <a:latin typeface="Times New Roman"/>
              </a:defRPr>
            </a:pPr>
            <a:r>
              <a:t>• Compresses continuous event streams into dense entity vectors (Inactivity Days, Access Frequency, File Size).</a:t>
            </a:r>
          </a:p>
          <a:p>
            <a:pPr>
              <a:spcBef>
                <a:spcPts val="800"/>
              </a:spcBef>
              <a:defRPr sz="1050">
                <a:solidFill>
                  <a:srgbClr val="2C3E50"/>
                </a:solidFill>
                <a:latin typeface="Times New Roman"/>
              </a:defRPr>
            </a:pPr>
            <a:r>
              <a:t>• Eliminates raw log noise while retaining vital temporal access velocity.</a:t>
            </a:r>
          </a:p>
          <a:p>
            <a:pPr>
              <a:spcBef>
                <a:spcPts val="800"/>
              </a:spcBef>
              <a:defRPr sz="1050">
                <a:solidFill>
                  <a:srgbClr val="2C3E50"/>
                </a:solidFill>
                <a:latin typeface="Times New Roman"/>
              </a:defRPr>
            </a:pPr>
            <a:r>
              <a:t>• Enables VectorAssembler integration without external caching.</a:t>
            </a:r>
          </a:p>
        </p:txBody>
      </p:sp>
      <p:sp>
        <p:nvSpPr>
          <p:cNvPr id="9" name="Rounded Rectangle 8"/>
          <p:cNvSpPr/>
          <p:nvPr/>
        </p:nvSpPr>
        <p:spPr>
          <a:xfrm>
            <a:off x="6089904" y="2377440"/>
            <a:ext cx="2606040" cy="352044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E67E22"/>
                </a:solidFill>
                <a:latin typeface="Times New Roman"/>
              </a:defRPr>
            </a:pPr>
            <a:r>
              <a:t>Distributed Bagging Benefits</a:t>
            </a:r>
          </a:p>
          <a:p>
            <a:pPr>
              <a:spcBef>
                <a:spcPts val="800"/>
              </a:spcBef>
              <a:defRPr sz="1050">
                <a:solidFill>
                  <a:srgbClr val="2C3E50"/>
                </a:solidFill>
                <a:latin typeface="Times New Roman"/>
              </a:defRPr>
            </a:pPr>
            <a:r>
              <a:t>• Ensemble averaging over 50 decision trees drastically lowers variance and prevents overfitting.</a:t>
            </a:r>
          </a:p>
          <a:p>
            <a:pPr>
              <a:spcBef>
                <a:spcPts val="800"/>
              </a:spcBef>
              <a:defRPr sz="1050">
                <a:solidFill>
                  <a:srgbClr val="2C3E50"/>
                </a:solidFill>
                <a:latin typeface="Times New Roman"/>
              </a:defRPr>
            </a:pPr>
            <a:r>
              <a:t>• Feature subsampling (sqrt strategy) decouples correlated access bursts.</a:t>
            </a:r>
          </a:p>
          <a:p>
            <a:pPr>
              <a:spcBef>
                <a:spcPts val="800"/>
              </a:spcBef>
              <a:defRPr sz="1050">
                <a:solidFill>
                  <a:srgbClr val="2C3E50"/>
                </a:solidFill>
                <a:latin typeface="Times New Roman"/>
              </a:defRPr>
            </a:pPr>
            <a:r>
              <a:t>• Achieves 93.7% accuracy with sub-second per-partition inference.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Overall System Architecture Diagram</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pic>
        <p:nvPicPr>
          <p:cNvPr id="6" name="Picture 5" descr="architecture_diagram.png"/>
          <p:cNvPicPr>
            <a:picLocks noChangeAspect="1"/>
          </p:cNvPicPr>
          <p:nvPr/>
        </p:nvPicPr>
        <p:blipFill>
          <a:blip r:embed="rId3"/>
          <a:stretch>
            <a:fillRect/>
          </a:stretch>
        </p:blipFill>
        <p:spPr>
          <a:xfrm>
            <a:off x="457200" y="1143000"/>
            <a:ext cx="8229600" cy="3931920"/>
          </a:xfrm>
          <a:prstGeom prst="rect">
            <a:avLst/>
          </a:prstGeom>
        </p:spPr>
      </p:pic>
      <p:sp>
        <p:nvSpPr>
          <p:cNvPr id="7" name="Rounded Rectangle 6"/>
          <p:cNvSpPr/>
          <p:nvPr/>
        </p:nvSpPr>
        <p:spPr>
          <a:xfrm>
            <a:off x="457200" y="5193792"/>
            <a:ext cx="8229600" cy="822960"/>
          </a:xfrm>
          <a:prstGeom prst="roundRect">
            <a:avLst/>
          </a:prstGeom>
          <a:solidFill>
            <a:srgbClr val="F5F8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050" b="1">
                <a:solidFill>
                  <a:srgbClr val="182B49"/>
                </a:solidFill>
                <a:latin typeface="Times New Roman"/>
              </a:defRPr>
            </a:pPr>
            <a:r>
              <a:t>FOUR-TIER DISTRIBUTED PIPELINE HIGHLIGHTS:</a:t>
            </a:r>
          </a:p>
          <a:p>
            <a:pPr>
              <a:spcBef>
                <a:spcPts val="300"/>
              </a:spcBef>
              <a:defRPr sz="950">
                <a:solidFill>
                  <a:srgbClr val="2C3E50"/>
                </a:solidFill>
                <a:latin typeface="Times New Roman"/>
              </a:defRPr>
            </a:pPr>
            <a:r>
              <a:t>• Layer 1: Ingestion &amp; Collision Resolver  |  • Layer 2: PySpark Temporal Feature Windowing  |  • Layer 3: MLlib Distributed Tree Ensemble  |  • Layer 4: Multi-Cloud Tiering (&gt;90% storage savings)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Preprocessing (Big Data Analysis &amp; Pipeline Steps)</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sp>
        <p:nvSpPr>
          <p:cNvPr id="6" name="Rounded Rectangle 5"/>
          <p:cNvSpPr/>
          <p:nvPr/>
        </p:nvSpPr>
        <p:spPr>
          <a:xfrm>
            <a:off x="457200" y="1188720"/>
            <a:ext cx="8229600" cy="10515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182B49"/>
                </a:solidFill>
                <a:latin typeface="Times New Roman"/>
              </a:defRPr>
            </a:pPr>
            <a:r>
              <a:t>Step 1: Distributed Log Ingestion</a:t>
            </a:r>
          </a:p>
          <a:p>
            <a:pPr>
              <a:spcBef>
                <a:spcPts val="200"/>
              </a:spcBef>
              <a:defRPr sz="1050" b="1">
                <a:solidFill>
                  <a:srgbClr val="2980B9"/>
                </a:solidFill>
                <a:latin typeface="Courier New"/>
              </a:defRPr>
            </a:pPr>
            <a:r>
              <a:t>Mechanism: PySpark JSON Reader &amp; Multi-Partition Ingestion</a:t>
            </a:r>
          </a:p>
          <a:p>
            <a:pPr>
              <a:spcBef>
                <a:spcPts val="200"/>
              </a:spcBef>
              <a:defRPr sz="1000">
                <a:solidFill>
                  <a:srgbClr val="2C3E50"/>
                </a:solidFill>
                <a:latin typeface="Times New Roman"/>
              </a:defRPr>
            </a:pPr>
            <a:r>
              <a:t>Raw enterprise CLUE-LDS JSON logs ingested directly into distributed Spark DataFrames. Partitions distributed across cluster executors for high-throughput parallel processing.</a:t>
            </a:r>
          </a:p>
        </p:txBody>
      </p:sp>
      <p:sp>
        <p:nvSpPr>
          <p:cNvPr id="7" name="Rounded Rectangle 6"/>
          <p:cNvSpPr/>
          <p:nvPr/>
        </p:nvSpPr>
        <p:spPr>
          <a:xfrm>
            <a:off x="457200" y="2359152"/>
            <a:ext cx="8229600" cy="10515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182B49"/>
                </a:solidFill>
                <a:latin typeface="Times New Roman"/>
              </a:defRPr>
            </a:pPr>
            <a:r>
              <a:t>Step 2: Schema Collision &amp; Format Normalization</a:t>
            </a:r>
          </a:p>
          <a:p>
            <a:pPr>
              <a:spcBef>
                <a:spcPts val="200"/>
              </a:spcBef>
              <a:defRPr sz="1050" b="1">
                <a:solidFill>
                  <a:srgbClr val="2980B9"/>
                </a:solidFill>
                <a:latin typeface="Courier New"/>
              </a:defRPr>
            </a:pPr>
            <a:r>
              <a:t>Mechanism: spark.conf.set('spark.sql.caseSensitive', 'true')</a:t>
            </a:r>
          </a:p>
          <a:p>
            <a:pPr>
              <a:spcBef>
                <a:spcPts val="200"/>
              </a:spcBef>
              <a:defRPr sz="1000">
                <a:solidFill>
                  <a:srgbClr val="2C3E50"/>
                </a:solidFill>
                <a:latin typeface="Times New Roman"/>
              </a:defRPr>
            </a:pPr>
            <a:r>
              <a:t>Resolved severe case collisions between identical field naming (itemParent vs itemparent). Normalized irregular timestamp strings into native SQL ISO-8601 timestamps and converted byte sizes to megabytes.</a:t>
            </a:r>
          </a:p>
        </p:txBody>
      </p:sp>
      <p:sp>
        <p:nvSpPr>
          <p:cNvPr id="8" name="Rounded Rectangle 7"/>
          <p:cNvSpPr/>
          <p:nvPr/>
        </p:nvSpPr>
        <p:spPr>
          <a:xfrm>
            <a:off x="457200" y="3529584"/>
            <a:ext cx="8229600" cy="10515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182B49"/>
                </a:solidFill>
                <a:latin typeface="Times New Roman"/>
              </a:defRPr>
            </a:pPr>
            <a:r>
              <a:t>Step 3: Distributed Temporal Feature Aggregation</a:t>
            </a:r>
          </a:p>
          <a:p>
            <a:pPr>
              <a:spcBef>
                <a:spcPts val="200"/>
              </a:spcBef>
              <a:defRPr sz="1050" b="1">
                <a:solidFill>
                  <a:srgbClr val="2980B9"/>
                </a:solidFill>
                <a:latin typeface="Courier New"/>
              </a:defRPr>
            </a:pPr>
            <a:r>
              <a:t>Mechanism: Window Aggregations Grouped by Entity File Path</a:t>
            </a:r>
          </a:p>
          <a:p>
            <a:pPr>
              <a:spcBef>
                <a:spcPts val="200"/>
              </a:spcBef>
              <a:defRPr sz="1000">
                <a:solidFill>
                  <a:srgbClr val="2C3E50"/>
                </a:solidFill>
                <a:latin typeface="Times New Roman"/>
              </a:defRPr>
            </a:pPr>
            <a:r>
              <a:t>Aggregated event-level access logs into file entity profiles: Inactivity Days (Delta-t = T_snapshot - max(T_access)), Access Frequency (FF = sum(events)), and Peak File Size (SS = max(size_mb)).</a:t>
            </a:r>
          </a:p>
        </p:txBody>
      </p:sp>
      <p:sp>
        <p:nvSpPr>
          <p:cNvPr id="9" name="Rounded Rectangle 8"/>
          <p:cNvSpPr/>
          <p:nvPr/>
        </p:nvSpPr>
        <p:spPr>
          <a:xfrm>
            <a:off x="457200" y="4700016"/>
            <a:ext cx="8229600" cy="10515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182B49"/>
                </a:solidFill>
                <a:latin typeface="Times New Roman"/>
              </a:defRPr>
            </a:pPr>
            <a:r>
              <a:t>Step 4: Vector Assembly &amp; Stratified 80/20 Split</a:t>
            </a:r>
          </a:p>
          <a:p>
            <a:pPr>
              <a:spcBef>
                <a:spcPts val="200"/>
              </a:spcBef>
              <a:defRPr sz="1050" b="1">
                <a:solidFill>
                  <a:srgbClr val="2980B9"/>
                </a:solidFill>
                <a:latin typeface="Courier New"/>
              </a:defRPr>
            </a:pPr>
            <a:r>
              <a:t>Mechanism: Spark MLlib VectorAssembler &amp; Stratified Partitioning</a:t>
            </a:r>
          </a:p>
          <a:p>
            <a:pPr>
              <a:spcBef>
                <a:spcPts val="200"/>
              </a:spcBef>
              <a:defRPr sz="1000">
                <a:solidFill>
                  <a:srgbClr val="2C3E50"/>
                </a:solidFill>
                <a:latin typeface="Times New Roman"/>
              </a:defRPr>
            </a:pPr>
            <a:r>
              <a:t>Assembled continuous temporal attributes into dense feature vectors using Spark MLlib VectorAssembler. Applied an 80/20 distributed stratified train-test split preserving class distribution.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Results of Preprocessing (Feature &amp; Class Balance)</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graphicFrame>
        <p:nvGraphicFramePr>
          <p:cNvPr id="6" name="Table 5"/>
          <p:cNvGraphicFramePr>
            <a:graphicFrameLocks noGrp="1"/>
          </p:cNvGraphicFramePr>
          <p:nvPr/>
        </p:nvGraphicFramePr>
        <p:xfrm>
          <a:off x="457200" y="1188720"/>
          <a:ext cx="3566160" cy="2011680"/>
        </p:xfrm>
        <a:graphic>
          <a:graphicData uri="http://schemas.openxmlformats.org/drawingml/2006/table">
            <a:tbl>
              <a:tblPr firstRow="1" bandRow="1">
                <a:tableStyleId>{5C22544A-7EE6-4342-B048-85BDC9FD1C3A}</a:tableStyleId>
              </a:tblPr>
              <a:tblGrid>
                <a:gridCol w="2103120"/>
                <a:gridCol w="1463040"/>
              </a:tblGrid>
              <a:tr h="402336">
                <a:tc>
                  <a:txBody>
                    <a:bodyPr/>
                    <a:lstStyle/>
                    <a:p>
                      <a:pPr algn="ctr">
                        <a:defRPr sz="1100" b="1">
                          <a:solidFill>
                            <a:srgbClr val="FFFFFF"/>
                          </a:solidFill>
                          <a:latin typeface="Times New Roman"/>
                        </a:defRPr>
                      </a:pPr>
                      <a:r>
                        <a:t>Preprocessing Metric</a:t>
                      </a:r>
                    </a:p>
                  </a:txBody>
                  <a:tcPr>
                    <a:solidFill>
                      <a:srgbClr val="182B49"/>
                    </a:solidFill>
                  </a:tcPr>
                </a:tc>
                <a:tc>
                  <a:txBody>
                    <a:bodyPr/>
                    <a:lstStyle/>
                    <a:p>
                      <a:pPr algn="ctr">
                        <a:defRPr sz="1100" b="1">
                          <a:solidFill>
                            <a:srgbClr val="FFFFFF"/>
                          </a:solidFill>
                          <a:latin typeface="Times New Roman"/>
                        </a:defRPr>
                      </a:pPr>
                      <a:r>
                        <a:t>Observed Value</a:t>
                      </a:r>
                    </a:p>
                  </a:txBody>
                  <a:tcPr>
                    <a:solidFill>
                      <a:srgbClr val="182B49"/>
                    </a:solidFill>
                  </a:tcPr>
                </a:tc>
              </a:tr>
              <a:tr h="402336">
                <a:tc>
                  <a:txBody>
                    <a:bodyPr/>
                    <a:lstStyle/>
                    <a:p>
                      <a:pPr>
                        <a:defRPr sz="1000">
                          <a:solidFill>
                            <a:srgbClr val="2C3E50"/>
                          </a:solidFill>
                          <a:latin typeface="Times New Roman"/>
                        </a:defRPr>
                      </a:pPr>
                      <a:r>
                        <a:t>Raw Ingested Records</a:t>
                      </a:r>
                    </a:p>
                  </a:txBody>
                  <a:tcPr>
                    <a:solidFill>
                      <a:srgbClr val="F5F7FA"/>
                    </a:solidFill>
                  </a:tcPr>
                </a:tc>
                <a:tc>
                  <a:txBody>
                    <a:bodyPr/>
                    <a:lstStyle/>
                    <a:p>
                      <a:pPr algn="ctr">
                        <a:defRPr sz="1000" b="1">
                          <a:solidFill>
                            <a:srgbClr val="182B49"/>
                          </a:solidFill>
                          <a:latin typeface="Times New Roman"/>
                        </a:defRPr>
                      </a:pPr>
                      <a:r>
                        <a:t>100,000 events</a:t>
                      </a:r>
                    </a:p>
                  </a:txBody>
                  <a:tcPr>
                    <a:solidFill>
                      <a:srgbClr val="F5F7FA"/>
                    </a:solidFill>
                  </a:tcPr>
                </a:tc>
              </a:tr>
              <a:tr h="402336">
                <a:tc>
                  <a:txBody>
                    <a:bodyPr/>
                    <a:lstStyle/>
                    <a:p>
                      <a:pPr>
                        <a:defRPr sz="1000">
                          <a:solidFill>
                            <a:srgbClr val="2C3E50"/>
                          </a:solidFill>
                          <a:latin typeface="Times New Roman"/>
                        </a:defRPr>
                      </a:pPr>
                      <a:r>
                        <a:t>Unique File Entities</a:t>
                      </a:r>
                    </a:p>
                  </a:txBody>
                  <a:tcPr>
                    <a:solidFill>
                      <a:srgbClr val="FFFFFF"/>
                    </a:solidFill>
                  </a:tcPr>
                </a:tc>
                <a:tc>
                  <a:txBody>
                    <a:bodyPr/>
                    <a:lstStyle/>
                    <a:p>
                      <a:pPr algn="ctr">
                        <a:defRPr sz="1000" b="1">
                          <a:solidFill>
                            <a:srgbClr val="182B49"/>
                          </a:solidFill>
                          <a:latin typeface="Times New Roman"/>
                        </a:defRPr>
                      </a:pPr>
                      <a:r>
                        <a:t>2,000 profiles</a:t>
                      </a:r>
                    </a:p>
                  </a:txBody>
                  <a:tcPr>
                    <a:solidFill>
                      <a:srgbClr val="FFFFFF"/>
                    </a:solidFill>
                  </a:tcPr>
                </a:tc>
              </a:tr>
              <a:tr h="402336">
                <a:tc>
                  <a:txBody>
                    <a:bodyPr/>
                    <a:lstStyle/>
                    <a:p>
                      <a:pPr>
                        <a:defRPr sz="1000">
                          <a:solidFill>
                            <a:srgbClr val="2C3E50"/>
                          </a:solidFill>
                          <a:latin typeface="Times New Roman"/>
                        </a:defRPr>
                      </a:pPr>
                      <a:r>
                        <a:t>Feature Vector Size</a:t>
                      </a:r>
                    </a:p>
                  </a:txBody>
                  <a:tcPr>
                    <a:solidFill>
                      <a:srgbClr val="F5F7FA"/>
                    </a:solidFill>
                  </a:tcPr>
                </a:tc>
                <a:tc>
                  <a:txBody>
                    <a:bodyPr/>
                    <a:lstStyle/>
                    <a:p>
                      <a:pPr algn="ctr">
                        <a:defRPr sz="1000" b="1">
                          <a:solidFill>
                            <a:srgbClr val="182B49"/>
                          </a:solidFill>
                          <a:latin typeface="Times New Roman"/>
                        </a:defRPr>
                      </a:pPr>
                      <a:r>
                        <a:t>3 dense attributes</a:t>
                      </a:r>
                    </a:p>
                  </a:txBody>
                  <a:tcPr>
                    <a:solidFill>
                      <a:srgbClr val="F5F7FA"/>
                    </a:solidFill>
                  </a:tcPr>
                </a:tc>
              </a:tr>
              <a:tr h="402336">
                <a:tc>
                  <a:txBody>
                    <a:bodyPr/>
                    <a:lstStyle/>
                    <a:p>
                      <a:pPr>
                        <a:defRPr sz="1000">
                          <a:solidFill>
                            <a:srgbClr val="2C3E50"/>
                          </a:solidFill>
                          <a:latin typeface="Times New Roman"/>
                        </a:defRPr>
                      </a:pPr>
                      <a:r>
                        <a:t>Train/Test Distribution</a:t>
                      </a:r>
                    </a:p>
                  </a:txBody>
                  <a:tcPr>
                    <a:solidFill>
                      <a:srgbClr val="FFFFFF"/>
                    </a:solidFill>
                  </a:tcPr>
                </a:tc>
                <a:tc>
                  <a:txBody>
                    <a:bodyPr/>
                    <a:lstStyle/>
                    <a:p>
                      <a:pPr algn="ctr">
                        <a:defRPr sz="1000" b="1">
                          <a:solidFill>
                            <a:srgbClr val="182B49"/>
                          </a:solidFill>
                          <a:latin typeface="Times New Roman"/>
                        </a:defRPr>
                      </a:pPr>
                      <a:r>
                        <a:t>1,600 / 400 (80/20)</a:t>
                      </a:r>
                    </a:p>
                  </a:txBody>
                  <a:tcPr>
                    <a:solidFill>
                      <a:srgbClr val="FFFFFF"/>
                    </a:solidFill>
                  </a:tcPr>
                </a:tc>
              </a:tr>
            </a:tbl>
          </a:graphicData>
        </a:graphic>
      </p:graphicFrame>
      <p:sp>
        <p:nvSpPr>
          <p:cNvPr id="7" name="Rounded Rectangle 6"/>
          <p:cNvSpPr/>
          <p:nvPr/>
        </p:nvSpPr>
        <p:spPr>
          <a:xfrm>
            <a:off x="457200" y="3337560"/>
            <a:ext cx="3566160" cy="256032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50" b="1">
                <a:solidFill>
                  <a:srgbClr val="1F4E79"/>
                </a:solidFill>
                <a:latin typeface="Times New Roman"/>
              </a:defRPr>
            </a:pPr>
            <a:r>
              <a:t>GROUND-TRUTH TIER DISTRIBUTION</a:t>
            </a:r>
          </a:p>
          <a:p>
            <a:pPr>
              <a:spcBef>
                <a:spcPts val="400"/>
              </a:spcBef>
              <a:defRPr sz="1050" b="1">
                <a:solidFill>
                  <a:srgbClr val="182B49"/>
                </a:solidFill>
                <a:latin typeface="Times New Roman"/>
              </a:defRPr>
            </a:pPr>
            <a:r>
              <a:t>• Active (Hot Tier): 32.0%:</a:t>
            </a:r>
          </a:p>
          <a:p>
            <a:pPr>
              <a:defRPr sz="950">
                <a:solidFill>
                  <a:srgbClr val="2C3E50"/>
                </a:solidFill>
                <a:latin typeface="Times New Roman"/>
              </a:defRPr>
            </a:pPr>
            <a:r>
              <a:t>   640 files with frequent recent accesses (Inactivity &lt;= 30d). Needs SSD/High-throughput storage.</a:t>
            </a:r>
          </a:p>
          <a:p>
            <a:pPr>
              <a:spcBef>
                <a:spcPts val="400"/>
              </a:spcBef>
              <a:defRPr sz="1050" b="1">
                <a:solidFill>
                  <a:srgbClr val="182B49"/>
                </a:solidFill>
                <a:latin typeface="Times New Roman"/>
              </a:defRPr>
            </a:pPr>
            <a:r>
              <a:t>• Rarely Accessed: 44.0%:</a:t>
            </a:r>
          </a:p>
          <a:p>
            <a:pPr>
              <a:defRPr sz="950">
                <a:solidFill>
                  <a:srgbClr val="2C3E50"/>
                </a:solidFill>
                <a:latin typeface="Times New Roman"/>
              </a:defRPr>
            </a:pPr>
            <a:r>
              <a:t>   880 files with moderate dormancy (31-120d). Prime candidates for Infrequent Access tier.</a:t>
            </a:r>
          </a:p>
          <a:p>
            <a:pPr>
              <a:spcBef>
                <a:spcPts val="400"/>
              </a:spcBef>
              <a:defRPr sz="1050" b="1">
                <a:solidFill>
                  <a:srgbClr val="182B49"/>
                </a:solidFill>
                <a:latin typeface="Times New Roman"/>
              </a:defRPr>
            </a:pPr>
            <a:r>
              <a:t>• Obsolete (ROT): 24.0%:</a:t>
            </a:r>
          </a:p>
          <a:p>
            <a:pPr>
              <a:defRPr sz="950">
                <a:solidFill>
                  <a:srgbClr val="2C3E50"/>
                </a:solidFill>
                <a:latin typeface="Times New Roman"/>
              </a:defRPr>
            </a:pPr>
            <a:r>
              <a:t>   480 files inactive &gt;120 days or &lt;=2 accesses. Immediate candidates for Glacier Deep Archive.</a:t>
            </a:r>
          </a:p>
        </p:txBody>
      </p:sp>
      <p:pic>
        <p:nvPicPr>
          <p:cNvPr id="8" name="Picture 7" descr="preprocessing_distribution.png"/>
          <p:cNvPicPr>
            <a:picLocks noChangeAspect="1"/>
          </p:cNvPicPr>
          <p:nvPr/>
        </p:nvPicPr>
        <p:blipFill>
          <a:blip r:embed="rId3"/>
          <a:stretch>
            <a:fillRect/>
          </a:stretch>
        </p:blipFill>
        <p:spPr>
          <a:xfrm>
            <a:off x="4206240" y="1188720"/>
            <a:ext cx="4480560" cy="47091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Classification (Novel / Proposed Classifier Engine)</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sp>
        <p:nvSpPr>
          <p:cNvPr id="6" name="Rounded Rectangle 5"/>
          <p:cNvSpPr/>
          <p:nvPr/>
        </p:nvSpPr>
        <p:spPr>
          <a:xfrm>
            <a:off x="457200" y="1188720"/>
            <a:ext cx="8229600" cy="1463040"/>
          </a:xfrm>
          <a:prstGeom prst="roundRect">
            <a:avLst/>
          </a:prstGeom>
          <a:solidFill>
            <a:srgbClr val="EBF5FF"/>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200" b="1">
                <a:solidFill>
                  <a:srgbClr val="1F4E79"/>
                </a:solidFill>
                <a:latin typeface="Times New Roman"/>
              </a:defRPr>
            </a:pPr>
            <a:r>
              <a:t>MATHEMATICAL FORMULATION OF DISTRIBUTED RANDOM FOREST</a:t>
            </a:r>
          </a:p>
          <a:p>
            <a:pPr>
              <a:spcBef>
                <a:spcPts val="600"/>
              </a:spcBef>
              <a:defRPr sz="1400" b="1">
                <a:solidFill>
                  <a:srgbClr val="182B49"/>
                </a:solidFill>
                <a:latin typeface="Courier New"/>
              </a:defRPr>
            </a:pPr>
            <a:r>
              <a:t>C_hat_RF(x) = argmax_{k in {0,1,2}}  SUM_{b=1}^{B}  I( C_b(x) == k )</a:t>
            </a:r>
          </a:p>
          <a:p>
            <a:pPr>
              <a:spcBef>
                <a:spcPts val="400"/>
              </a:spcBef>
              <a:defRPr sz="1050">
                <a:solidFill>
                  <a:srgbClr val="2C3E50"/>
                </a:solidFill>
                <a:latin typeface="Times New Roman"/>
              </a:defRPr>
            </a:pPr>
            <a:r>
              <a:t>where B = 50 decision trees, maximum tree depth d_max = 10, and feature subset selection m = floor(sqrt(M)). Each individual tree C_b is independently trained on a bootstrap sample of the distributed partitions.</a:t>
            </a:r>
          </a:p>
        </p:txBody>
      </p:sp>
      <p:sp>
        <p:nvSpPr>
          <p:cNvPr id="7" name="Rounded Rectangle 6"/>
          <p:cNvSpPr/>
          <p:nvPr/>
        </p:nvSpPr>
        <p:spPr>
          <a:xfrm>
            <a:off x="457200" y="2788920"/>
            <a:ext cx="3977639" cy="31089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1F4E79"/>
                </a:solidFill>
                <a:latin typeface="Times New Roman"/>
              </a:defRPr>
            </a:pPr>
            <a:r>
              <a:t>PARALLEL SPLIT VIA GINI IMPURITY</a:t>
            </a:r>
          </a:p>
          <a:p>
            <a:pPr>
              <a:spcBef>
                <a:spcPts val="400"/>
              </a:spcBef>
              <a:defRPr sz="1050" b="1">
                <a:solidFill>
                  <a:srgbClr val="182B49"/>
                </a:solidFill>
                <a:latin typeface="Courier New"/>
              </a:defRPr>
            </a:pPr>
            <a:r>
              <a:t>Gini Impurity Equation:</a:t>
            </a:r>
          </a:p>
          <a:p>
            <a:pPr>
              <a:spcBef>
                <a:spcPts val="400"/>
              </a:spcBef>
              <a:defRPr sz="1050" b="0">
                <a:solidFill>
                  <a:srgbClr val="2C3E50"/>
                </a:solidFill>
                <a:latin typeface="Courier New"/>
              </a:defRPr>
            </a:pPr>
            <a:r>
              <a:t>   Gini(D) = 1 - SUM_{k=0}^{2}  (p_k)^2</a:t>
            </a:r>
          </a:p>
          <a:p>
            <a:pPr>
              <a:spcBef>
                <a:spcPts val="400"/>
              </a:spcBef>
              <a:defRPr sz="1000" b="1">
                <a:solidFill>
                  <a:srgbClr val="182B49"/>
                </a:solidFill>
                <a:latin typeface="Times New Roman"/>
              </a:defRPr>
            </a:pPr>
            <a:r>
              <a:t>Parallel Histogram Aggregation:</a:t>
            </a:r>
          </a:p>
          <a:p>
            <a:pPr>
              <a:spcBef>
                <a:spcPts val="400"/>
              </a:spcBef>
              <a:defRPr sz="1000" b="0">
                <a:solidFill>
                  <a:srgbClr val="2C3E50"/>
                </a:solidFill>
                <a:latin typeface="Times New Roman"/>
              </a:defRPr>
            </a:pPr>
            <a:r>
              <a:t>   Unlike single-node trees requiring global sorting, Spark MLlib computes discrete bin histograms per worker executor.</a:t>
            </a:r>
          </a:p>
          <a:p>
            <a:pPr>
              <a:spcBef>
                <a:spcPts val="400"/>
              </a:spcBef>
              <a:defRPr sz="1000" b="1">
                <a:solidFill>
                  <a:srgbClr val="182B49"/>
                </a:solidFill>
                <a:latin typeface="Times New Roman"/>
              </a:defRPr>
            </a:pPr>
            <a:r>
              <a:t>Communication Efficiency:</a:t>
            </a:r>
          </a:p>
          <a:p>
            <a:pPr>
              <a:spcBef>
                <a:spcPts val="400"/>
              </a:spcBef>
              <a:defRPr sz="1000" b="0">
                <a:solidFill>
                  <a:srgbClr val="2C3E50"/>
                </a:solidFill>
                <a:latin typeface="Times New Roman"/>
              </a:defRPr>
            </a:pPr>
            <a:r>
              <a:t>   Only compact histogram summary statistics are transferred between worker partitions, minimizing network shuffling I/O.</a:t>
            </a:r>
          </a:p>
        </p:txBody>
      </p:sp>
      <p:sp>
        <p:nvSpPr>
          <p:cNvPr id="8" name="Rounded Rectangle 7"/>
          <p:cNvSpPr/>
          <p:nvPr/>
        </p:nvSpPr>
        <p:spPr>
          <a:xfrm>
            <a:off x="4709160" y="2788920"/>
            <a:ext cx="3977639" cy="31089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1F4E79"/>
                </a:solidFill>
                <a:latin typeface="Times New Roman"/>
              </a:defRPr>
            </a:pPr>
            <a:r>
              <a:t>OPTIMAL HYPERPARAMETER CONFIGURATION</a:t>
            </a:r>
          </a:p>
          <a:p>
            <a:pPr>
              <a:spcBef>
                <a:spcPts val="300"/>
              </a:spcBef>
              <a:defRPr sz="1050" b="1">
                <a:solidFill>
                  <a:srgbClr val="182B49"/>
                </a:solidFill>
                <a:latin typeface="Times New Roman"/>
              </a:defRPr>
            </a:pPr>
            <a:r>
              <a:t>• Number of Trees (B):</a:t>
            </a:r>
          </a:p>
          <a:p>
            <a:pPr>
              <a:defRPr sz="950">
                <a:solidFill>
                  <a:srgbClr val="2C3E50"/>
                </a:solidFill>
                <a:latin typeface="Times New Roman"/>
              </a:defRPr>
            </a:pPr>
            <a:r>
              <a:t>   50 trees (Balancing variance reduction &amp; latency)</a:t>
            </a:r>
          </a:p>
          <a:p>
            <a:pPr>
              <a:spcBef>
                <a:spcPts val="300"/>
              </a:spcBef>
              <a:defRPr sz="1050" b="1">
                <a:solidFill>
                  <a:srgbClr val="182B49"/>
                </a:solidFill>
                <a:latin typeface="Times New Roman"/>
              </a:defRPr>
            </a:pPr>
            <a:r>
              <a:t>• Max Depth (d_max):</a:t>
            </a:r>
          </a:p>
          <a:p>
            <a:pPr>
              <a:defRPr sz="950">
                <a:solidFill>
                  <a:srgbClr val="2C3E50"/>
                </a:solidFill>
                <a:latin typeface="Times New Roman"/>
              </a:defRPr>
            </a:pPr>
            <a:r>
              <a:t>   10 levels (Prevents leaf node fragmentation)</a:t>
            </a:r>
          </a:p>
          <a:p>
            <a:pPr>
              <a:spcBef>
                <a:spcPts val="300"/>
              </a:spcBef>
              <a:defRPr sz="1050" b="1">
                <a:solidFill>
                  <a:srgbClr val="182B49"/>
                </a:solidFill>
                <a:latin typeface="Times New Roman"/>
              </a:defRPr>
            </a:pPr>
            <a:r>
              <a:t>• Impurity Measure:</a:t>
            </a:r>
          </a:p>
          <a:p>
            <a:pPr>
              <a:defRPr sz="950">
                <a:solidFill>
                  <a:srgbClr val="2C3E50"/>
                </a:solidFill>
                <a:latin typeface="Times New Roman"/>
              </a:defRPr>
            </a:pPr>
            <a:r>
              <a:t>   Gini Impurity (Fast multi-class convergence)</a:t>
            </a:r>
          </a:p>
          <a:p>
            <a:pPr>
              <a:spcBef>
                <a:spcPts val="300"/>
              </a:spcBef>
              <a:defRPr sz="1050" b="1">
                <a:solidFill>
                  <a:srgbClr val="182B49"/>
                </a:solidFill>
                <a:latin typeface="Times New Roman"/>
              </a:defRPr>
            </a:pPr>
            <a:r>
              <a:t>• Feature Subset Strategy:</a:t>
            </a:r>
          </a:p>
          <a:p>
            <a:pPr>
              <a:defRPr sz="950">
                <a:solidFill>
                  <a:srgbClr val="2C3E50"/>
                </a:solidFill>
                <a:latin typeface="Times New Roman"/>
              </a:defRPr>
            </a:pPr>
            <a:r>
              <a:t>   sqrt (Subsamples 2 features per split node)</a:t>
            </a:r>
          </a:p>
          <a:p>
            <a:pPr>
              <a:spcBef>
                <a:spcPts val="300"/>
              </a:spcBef>
              <a:defRPr sz="1050" b="1">
                <a:solidFill>
                  <a:srgbClr val="182B49"/>
                </a:solidFill>
                <a:latin typeface="Times New Roman"/>
              </a:defRPr>
            </a:pPr>
            <a:r>
              <a:t>• Subsampling Rate:</a:t>
            </a:r>
          </a:p>
          <a:p>
            <a:pPr>
              <a:defRPr sz="950">
                <a:solidFill>
                  <a:srgbClr val="2C3E50"/>
                </a:solidFill>
                <a:latin typeface="Times New Roman"/>
              </a:defRPr>
            </a:pPr>
            <a:r>
              <a:t>   1.0 with replacement (Full bootstrap coverage)</a:t>
            </a:r>
          </a:p>
          <a:p>
            <a:pPr>
              <a:spcBef>
                <a:spcPts val="300"/>
              </a:spcBef>
              <a:defRPr sz="1050" b="1">
                <a:solidFill>
                  <a:srgbClr val="182B49"/>
                </a:solidFill>
                <a:latin typeface="Times New Roman"/>
              </a:defRPr>
            </a:pPr>
            <a:r>
              <a:t>• Distributed Partitions:</a:t>
            </a:r>
          </a:p>
          <a:p>
            <a:pPr>
              <a:defRPr sz="950">
                <a:solidFill>
                  <a:srgbClr val="2C3E50"/>
                </a:solidFill>
                <a:latin typeface="Times New Roman"/>
              </a:defRPr>
            </a:pPr>
            <a:r>
              <a:t>   Auto-repartitioned by Spark Core workers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Results of Classification Using Proposed Model</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pic>
        <p:nvPicPr>
          <p:cNvPr id="6" name="Picture 5" descr="confusion_matrix.png"/>
          <p:cNvPicPr>
            <a:picLocks noChangeAspect="1"/>
          </p:cNvPicPr>
          <p:nvPr/>
        </p:nvPicPr>
        <p:blipFill>
          <a:blip r:embed="rId3"/>
          <a:stretch>
            <a:fillRect/>
          </a:stretch>
        </p:blipFill>
        <p:spPr>
          <a:xfrm>
            <a:off x="457200" y="1188720"/>
            <a:ext cx="4114800" cy="4480560"/>
          </a:xfrm>
          <a:prstGeom prst="rect">
            <a:avLst/>
          </a:prstGeom>
        </p:spPr>
      </p:pic>
      <p:graphicFrame>
        <p:nvGraphicFramePr>
          <p:cNvPr id="7" name="Table 6"/>
          <p:cNvGraphicFramePr>
            <a:graphicFrameLocks noGrp="1"/>
          </p:cNvGraphicFramePr>
          <p:nvPr/>
        </p:nvGraphicFramePr>
        <p:xfrm>
          <a:off x="4754880" y="1188720"/>
          <a:ext cx="3931920" cy="2377440"/>
        </p:xfrm>
        <a:graphic>
          <a:graphicData uri="http://schemas.openxmlformats.org/drawingml/2006/table">
            <a:tbl>
              <a:tblPr firstRow="1" bandRow="1">
                <a:tableStyleId>{5C22544A-7EE6-4342-B048-85BDC9FD1C3A}</a:tableStyleId>
              </a:tblPr>
              <a:tblGrid>
                <a:gridCol w="2377440"/>
                <a:gridCol w="1554480"/>
              </a:tblGrid>
              <a:tr h="396240">
                <a:tc>
                  <a:txBody>
                    <a:bodyPr/>
                    <a:lstStyle/>
                    <a:p>
                      <a:pPr algn="ctr">
                        <a:defRPr sz="1100" b="1">
                          <a:solidFill>
                            <a:srgbClr val="FFFFFF"/>
                          </a:solidFill>
                          <a:latin typeface="Times New Roman"/>
                        </a:defRPr>
                      </a:pPr>
                      <a:r>
                        <a:t>Evaluation Metric</a:t>
                      </a:r>
                    </a:p>
                  </a:txBody>
                  <a:tcPr>
                    <a:solidFill>
                      <a:srgbClr val="182B49"/>
                    </a:solidFill>
                  </a:tcPr>
                </a:tc>
                <a:tc>
                  <a:txBody>
                    <a:bodyPr/>
                    <a:lstStyle/>
                    <a:p>
                      <a:pPr algn="ctr">
                        <a:defRPr sz="1100" b="1">
                          <a:solidFill>
                            <a:srgbClr val="FFFFFF"/>
                          </a:solidFill>
                          <a:latin typeface="Times New Roman"/>
                        </a:defRPr>
                      </a:pPr>
                      <a:r>
                        <a:t>Proposed RF Score</a:t>
                      </a:r>
                    </a:p>
                  </a:txBody>
                  <a:tcPr>
                    <a:solidFill>
                      <a:srgbClr val="182B49"/>
                    </a:solidFill>
                  </a:tcPr>
                </a:tc>
              </a:tr>
              <a:tr h="396240">
                <a:tc>
                  <a:txBody>
                    <a:bodyPr/>
                    <a:lstStyle/>
                    <a:p>
                      <a:pPr>
                        <a:defRPr sz="1000">
                          <a:solidFill>
                            <a:srgbClr val="2C3E50"/>
                          </a:solidFill>
                          <a:latin typeface="Times New Roman"/>
                        </a:defRPr>
                      </a:pPr>
                      <a:r>
                        <a:t>Overall Model Accuracy</a:t>
                      </a:r>
                    </a:p>
                  </a:txBody>
                  <a:tcPr>
                    <a:solidFill>
                      <a:srgbClr val="F5F7FA"/>
                    </a:solidFill>
                  </a:tcPr>
                </a:tc>
                <a:tc>
                  <a:txBody>
                    <a:bodyPr/>
                    <a:lstStyle/>
                    <a:p>
                      <a:pPr algn="ctr">
                        <a:defRPr sz="1050" b="1">
                          <a:solidFill>
                            <a:srgbClr val="16A085"/>
                          </a:solidFill>
                          <a:latin typeface="Times New Roman"/>
                        </a:defRPr>
                      </a:pPr>
                      <a:r>
                        <a:t>93.70%</a:t>
                      </a:r>
                    </a:p>
                  </a:txBody>
                  <a:tcPr>
                    <a:solidFill>
                      <a:srgbClr val="F5F7FA"/>
                    </a:solidFill>
                  </a:tcPr>
                </a:tc>
              </a:tr>
              <a:tr h="396240">
                <a:tc>
                  <a:txBody>
                    <a:bodyPr/>
                    <a:lstStyle/>
                    <a:p>
                      <a:pPr>
                        <a:defRPr sz="1000">
                          <a:solidFill>
                            <a:srgbClr val="2C3E50"/>
                          </a:solidFill>
                          <a:latin typeface="Times New Roman"/>
                        </a:defRPr>
                      </a:pPr>
                      <a:r>
                        <a:t>Weighted Precision</a:t>
                      </a:r>
                    </a:p>
                  </a:txBody>
                  <a:tcPr>
                    <a:solidFill>
                      <a:srgbClr val="FFFFFF"/>
                    </a:solidFill>
                  </a:tcPr>
                </a:tc>
                <a:tc>
                  <a:txBody>
                    <a:bodyPr/>
                    <a:lstStyle/>
                    <a:p>
                      <a:pPr algn="ctr">
                        <a:defRPr sz="1050" b="1">
                          <a:solidFill>
                            <a:srgbClr val="16A085"/>
                          </a:solidFill>
                          <a:latin typeface="Times New Roman"/>
                        </a:defRPr>
                      </a:pPr>
                      <a:r>
                        <a:t>0.9378</a:t>
                      </a:r>
                    </a:p>
                  </a:txBody>
                  <a:tcPr>
                    <a:solidFill>
                      <a:srgbClr val="FFFFFF"/>
                    </a:solidFill>
                  </a:tcPr>
                </a:tc>
              </a:tr>
              <a:tr h="396240">
                <a:tc>
                  <a:txBody>
                    <a:bodyPr/>
                    <a:lstStyle/>
                    <a:p>
                      <a:pPr>
                        <a:defRPr sz="1000">
                          <a:solidFill>
                            <a:srgbClr val="2C3E50"/>
                          </a:solidFill>
                          <a:latin typeface="Times New Roman"/>
                        </a:defRPr>
                      </a:pPr>
                      <a:r>
                        <a:t>Weighted Recall</a:t>
                      </a:r>
                    </a:p>
                  </a:txBody>
                  <a:tcPr>
                    <a:solidFill>
                      <a:srgbClr val="F5F7FA"/>
                    </a:solidFill>
                  </a:tcPr>
                </a:tc>
                <a:tc>
                  <a:txBody>
                    <a:bodyPr/>
                    <a:lstStyle/>
                    <a:p>
                      <a:pPr algn="ctr">
                        <a:defRPr sz="1050" b="1">
                          <a:solidFill>
                            <a:srgbClr val="16A085"/>
                          </a:solidFill>
                          <a:latin typeface="Times New Roman"/>
                        </a:defRPr>
                      </a:pPr>
                      <a:r>
                        <a:t>0.9370</a:t>
                      </a:r>
                    </a:p>
                  </a:txBody>
                  <a:tcPr>
                    <a:solidFill>
                      <a:srgbClr val="F5F7FA"/>
                    </a:solidFill>
                  </a:tcPr>
                </a:tc>
              </a:tr>
              <a:tr h="396240">
                <a:tc>
                  <a:txBody>
                    <a:bodyPr/>
                    <a:lstStyle/>
                    <a:p>
                      <a:pPr>
                        <a:defRPr sz="1000">
                          <a:solidFill>
                            <a:srgbClr val="2C3E50"/>
                          </a:solidFill>
                          <a:latin typeface="Times New Roman"/>
                        </a:defRPr>
                      </a:pPr>
                      <a:r>
                        <a:t>Weighted F1-Score</a:t>
                      </a:r>
                    </a:p>
                  </a:txBody>
                  <a:tcPr>
                    <a:solidFill>
                      <a:srgbClr val="FFFFFF"/>
                    </a:solidFill>
                  </a:tcPr>
                </a:tc>
                <a:tc>
                  <a:txBody>
                    <a:bodyPr/>
                    <a:lstStyle/>
                    <a:p>
                      <a:pPr algn="ctr">
                        <a:defRPr sz="1050" b="1">
                          <a:solidFill>
                            <a:srgbClr val="16A085"/>
                          </a:solidFill>
                          <a:latin typeface="Times New Roman"/>
                        </a:defRPr>
                      </a:pPr>
                      <a:r>
                        <a:t>0.9370</a:t>
                      </a:r>
                    </a:p>
                  </a:txBody>
                  <a:tcPr>
                    <a:solidFill>
                      <a:srgbClr val="FFFFFF"/>
                    </a:solidFill>
                  </a:tcPr>
                </a:tc>
              </a:tr>
              <a:tr h="396240">
                <a:tc>
                  <a:txBody>
                    <a:bodyPr/>
                    <a:lstStyle/>
                    <a:p>
                      <a:pPr>
                        <a:defRPr sz="1000">
                          <a:solidFill>
                            <a:srgbClr val="2C3E50"/>
                          </a:solidFill>
                          <a:latin typeface="Times New Roman"/>
                        </a:defRPr>
                      </a:pPr>
                      <a:r>
                        <a:t>Distributed Training Time</a:t>
                      </a:r>
                    </a:p>
                  </a:txBody>
                  <a:tcPr>
                    <a:solidFill>
                      <a:srgbClr val="F5F7FA"/>
                    </a:solidFill>
                  </a:tcPr>
                </a:tc>
                <a:tc>
                  <a:txBody>
                    <a:bodyPr/>
                    <a:lstStyle/>
                    <a:p>
                      <a:pPr algn="ctr">
                        <a:defRPr sz="1050" b="1">
                          <a:solidFill>
                            <a:srgbClr val="182B49"/>
                          </a:solidFill>
                          <a:latin typeface="Times New Roman"/>
                        </a:defRPr>
                      </a:pPr>
                      <a:r>
                        <a:t>6.45 seconds</a:t>
                      </a:r>
                    </a:p>
                  </a:txBody>
                  <a:tcPr>
                    <a:solidFill>
                      <a:srgbClr val="F5F7FA"/>
                    </a:solidFill>
                  </a:tcPr>
                </a:tc>
              </a:tr>
            </a:tbl>
          </a:graphicData>
        </a:graphic>
      </p:graphicFrame>
      <p:sp>
        <p:nvSpPr>
          <p:cNvPr id="8" name="Rounded Rectangle 7"/>
          <p:cNvSpPr/>
          <p:nvPr/>
        </p:nvSpPr>
        <p:spPr>
          <a:xfrm>
            <a:off x="4754880" y="3703320"/>
            <a:ext cx="3931920" cy="214884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100" b="1">
                <a:solidFill>
                  <a:srgbClr val="1F4E79"/>
                </a:solidFill>
                <a:latin typeface="Times New Roman"/>
              </a:defRPr>
            </a:pPr>
            <a:r>
              <a:t>CRITICAL MODEL INFERENCE INSIGHTS</a:t>
            </a:r>
          </a:p>
          <a:p>
            <a:pPr>
              <a:spcBef>
                <a:spcPts val="300"/>
              </a:spcBef>
              <a:defRPr sz="950">
                <a:solidFill>
                  <a:srgbClr val="2C3E50"/>
                </a:solidFill>
                <a:latin typeface="Times New Roman"/>
              </a:defRPr>
            </a:pPr>
            <a:r>
              <a:t>• High True Positive Diagonal: Confusion matrix reveals &gt;93% diagonal concentration, demonstrating clean tier separation.</a:t>
            </a:r>
          </a:p>
          <a:p>
            <a:pPr>
              <a:spcBef>
                <a:spcPts val="300"/>
              </a:spcBef>
              <a:defRPr sz="950">
                <a:solidFill>
                  <a:srgbClr val="2C3E50"/>
                </a:solidFill>
                <a:latin typeface="Times New Roman"/>
              </a:defRPr>
            </a:pPr>
            <a:r>
              <a:t>• Near-Zero False Demotions: Critically ensures active business files are never wrongly classified into Deep Archive / Purge.</a:t>
            </a:r>
          </a:p>
          <a:p>
            <a:pPr>
              <a:spcBef>
                <a:spcPts val="300"/>
              </a:spcBef>
              <a:defRPr sz="950">
                <a:solidFill>
                  <a:srgbClr val="2C3E50"/>
                </a:solidFill>
                <a:latin typeface="Times New Roman"/>
              </a:defRPr>
            </a:pPr>
            <a:r>
              <a:t>• Low Training Latency: Trains all 50 distributed trees in 6.45 seconds across worker executors.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Comparison with Existing Classifier Models</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pic>
        <p:nvPicPr>
          <p:cNvPr id="6" name="Picture 5" descr="model_comparison.png"/>
          <p:cNvPicPr>
            <a:picLocks noChangeAspect="1"/>
          </p:cNvPicPr>
          <p:nvPr/>
        </p:nvPicPr>
        <p:blipFill>
          <a:blip r:embed="rId3"/>
          <a:stretch>
            <a:fillRect/>
          </a:stretch>
        </p:blipFill>
        <p:spPr>
          <a:xfrm>
            <a:off x="457200" y="1188720"/>
            <a:ext cx="4114800" cy="4480560"/>
          </a:xfrm>
          <a:prstGeom prst="rect">
            <a:avLst/>
          </a:prstGeom>
        </p:spPr>
      </p:pic>
      <p:graphicFrame>
        <p:nvGraphicFramePr>
          <p:cNvPr id="7" name="Table 6"/>
          <p:cNvGraphicFramePr>
            <a:graphicFrameLocks noGrp="1"/>
          </p:cNvGraphicFramePr>
          <p:nvPr/>
        </p:nvGraphicFramePr>
        <p:xfrm>
          <a:off x="4709160" y="1188720"/>
          <a:ext cx="3977640" cy="2377440"/>
        </p:xfrm>
        <a:graphic>
          <a:graphicData uri="http://schemas.openxmlformats.org/drawingml/2006/table">
            <a:tbl>
              <a:tblPr firstRow="1" bandRow="1">
                <a:tableStyleId>{5C22544A-7EE6-4342-B048-85BDC9FD1C3A}</a:tableStyleId>
              </a:tblPr>
              <a:tblGrid>
                <a:gridCol w="1417320"/>
                <a:gridCol w="640080"/>
                <a:gridCol w="640080"/>
                <a:gridCol w="640080"/>
                <a:gridCol w="640080"/>
              </a:tblGrid>
              <a:tr h="475488">
                <a:tc>
                  <a:txBody>
                    <a:bodyPr/>
                    <a:lstStyle/>
                    <a:p>
                      <a:pPr algn="ctr">
                        <a:defRPr sz="1000" b="1">
                          <a:solidFill>
                            <a:srgbClr val="FFFFFF"/>
                          </a:solidFill>
                          <a:latin typeface="Times New Roman"/>
                        </a:defRPr>
                      </a:pPr>
                      <a:r>
                        <a:t>Model</a:t>
                      </a:r>
                    </a:p>
                  </a:txBody>
                  <a:tcPr>
                    <a:solidFill>
                      <a:srgbClr val="182B49"/>
                    </a:solidFill>
                  </a:tcPr>
                </a:tc>
                <a:tc>
                  <a:txBody>
                    <a:bodyPr/>
                    <a:lstStyle/>
                    <a:p>
                      <a:pPr algn="ctr">
                        <a:defRPr sz="1000" b="1">
                          <a:solidFill>
                            <a:srgbClr val="FFFFFF"/>
                          </a:solidFill>
                          <a:latin typeface="Times New Roman"/>
                        </a:defRPr>
                      </a:pPr>
                      <a:r>
                        <a:t>Acc (%)</a:t>
                      </a:r>
                    </a:p>
                  </a:txBody>
                  <a:tcPr>
                    <a:solidFill>
                      <a:srgbClr val="182B49"/>
                    </a:solidFill>
                  </a:tcPr>
                </a:tc>
                <a:tc>
                  <a:txBody>
                    <a:bodyPr/>
                    <a:lstStyle/>
                    <a:p>
                      <a:pPr algn="ctr">
                        <a:defRPr sz="1000" b="1">
                          <a:solidFill>
                            <a:srgbClr val="FFFFFF"/>
                          </a:solidFill>
                          <a:latin typeface="Times New Roman"/>
                        </a:defRPr>
                      </a:pPr>
                      <a:r>
                        <a:t>Prec</a:t>
                      </a:r>
                    </a:p>
                  </a:txBody>
                  <a:tcPr>
                    <a:solidFill>
                      <a:srgbClr val="182B49"/>
                    </a:solidFill>
                  </a:tcPr>
                </a:tc>
                <a:tc>
                  <a:txBody>
                    <a:bodyPr/>
                    <a:lstStyle/>
                    <a:p>
                      <a:pPr algn="ctr">
                        <a:defRPr sz="1000" b="1">
                          <a:solidFill>
                            <a:srgbClr val="FFFFFF"/>
                          </a:solidFill>
                          <a:latin typeface="Times New Roman"/>
                        </a:defRPr>
                      </a:pPr>
                      <a:r>
                        <a:t>F1</a:t>
                      </a:r>
                    </a:p>
                  </a:txBody>
                  <a:tcPr>
                    <a:solidFill>
                      <a:srgbClr val="182B49"/>
                    </a:solidFill>
                  </a:tcPr>
                </a:tc>
                <a:tc>
                  <a:txBody>
                    <a:bodyPr/>
                    <a:lstStyle/>
                    <a:p>
                      <a:pPr algn="ctr">
                        <a:defRPr sz="1000" b="1">
                          <a:solidFill>
                            <a:srgbClr val="FFFFFF"/>
                          </a:solidFill>
                          <a:latin typeface="Times New Roman"/>
                        </a:defRPr>
                      </a:pPr>
                      <a:r>
                        <a:t>Time(s)</a:t>
                      </a:r>
                    </a:p>
                  </a:txBody>
                  <a:tcPr>
                    <a:solidFill>
                      <a:srgbClr val="182B49"/>
                    </a:solidFill>
                  </a:tcPr>
                </a:tc>
              </a:tr>
              <a:tr h="475488">
                <a:tc>
                  <a:txBody>
                    <a:bodyPr/>
                    <a:lstStyle/>
                    <a:p>
                      <a:pPr algn="l">
                        <a:defRPr sz="950" b="0">
                          <a:solidFill>
                            <a:srgbClr val="2C3E50"/>
                          </a:solidFill>
                          <a:latin typeface="Times New Roman"/>
                        </a:defRPr>
                      </a:pPr>
                      <a:r>
                        <a:t>Logistic Regression</a:t>
                      </a:r>
                    </a:p>
                  </a:txBody>
                  <a:tcPr>
                    <a:solidFill>
                      <a:srgbClr val="F5F7FA"/>
                    </a:solidFill>
                  </a:tcPr>
                </a:tc>
                <a:tc>
                  <a:txBody>
                    <a:bodyPr/>
                    <a:lstStyle/>
                    <a:p>
                      <a:pPr algn="ctr">
                        <a:defRPr sz="950" b="0">
                          <a:solidFill>
                            <a:srgbClr val="2C3E50"/>
                          </a:solidFill>
                          <a:latin typeface="Times New Roman"/>
                        </a:defRPr>
                      </a:pPr>
                      <a:r>
                        <a:t>81.2%</a:t>
                      </a:r>
                    </a:p>
                  </a:txBody>
                  <a:tcPr>
                    <a:solidFill>
                      <a:srgbClr val="F5F7FA"/>
                    </a:solidFill>
                  </a:tcPr>
                </a:tc>
                <a:tc>
                  <a:txBody>
                    <a:bodyPr/>
                    <a:lstStyle/>
                    <a:p>
                      <a:pPr algn="ctr">
                        <a:defRPr sz="950" b="0">
                          <a:solidFill>
                            <a:srgbClr val="2C3E50"/>
                          </a:solidFill>
                          <a:latin typeface="Times New Roman"/>
                        </a:defRPr>
                      </a:pPr>
                      <a:r>
                        <a:t>0.812</a:t>
                      </a:r>
                    </a:p>
                  </a:txBody>
                  <a:tcPr>
                    <a:solidFill>
                      <a:srgbClr val="F5F7FA"/>
                    </a:solidFill>
                  </a:tcPr>
                </a:tc>
                <a:tc>
                  <a:txBody>
                    <a:bodyPr/>
                    <a:lstStyle/>
                    <a:p>
                      <a:pPr algn="ctr">
                        <a:defRPr sz="950" b="0">
                          <a:solidFill>
                            <a:srgbClr val="2C3E50"/>
                          </a:solidFill>
                          <a:latin typeface="Times New Roman"/>
                        </a:defRPr>
                      </a:pPr>
                      <a:r>
                        <a:t>0.811</a:t>
                      </a:r>
                    </a:p>
                  </a:txBody>
                  <a:tcPr>
                    <a:solidFill>
                      <a:srgbClr val="F5F7FA"/>
                    </a:solidFill>
                  </a:tcPr>
                </a:tc>
                <a:tc>
                  <a:txBody>
                    <a:bodyPr/>
                    <a:lstStyle/>
                    <a:p>
                      <a:pPr algn="ctr">
                        <a:defRPr sz="950" b="0">
                          <a:solidFill>
                            <a:srgbClr val="2C3E50"/>
                          </a:solidFill>
                          <a:latin typeface="Times New Roman"/>
                        </a:defRPr>
                      </a:pPr>
                      <a:r>
                        <a:t>3.84s</a:t>
                      </a:r>
                    </a:p>
                  </a:txBody>
                  <a:tcPr>
                    <a:solidFill>
                      <a:srgbClr val="F5F7FA"/>
                    </a:solidFill>
                  </a:tcPr>
                </a:tc>
              </a:tr>
              <a:tr h="475488">
                <a:tc>
                  <a:txBody>
                    <a:bodyPr/>
                    <a:lstStyle/>
                    <a:p>
                      <a:pPr algn="l">
                        <a:defRPr sz="950" b="0">
                          <a:solidFill>
                            <a:srgbClr val="2C3E50"/>
                          </a:solidFill>
                          <a:latin typeface="Times New Roman"/>
                        </a:defRPr>
                      </a:pPr>
                      <a:r>
                        <a:t>Decision Tree (d=8)</a:t>
                      </a:r>
                    </a:p>
                  </a:txBody>
                  <a:tcPr>
                    <a:solidFill>
                      <a:srgbClr val="FFFFFF"/>
                    </a:solidFill>
                  </a:tcPr>
                </a:tc>
                <a:tc>
                  <a:txBody>
                    <a:bodyPr/>
                    <a:lstStyle/>
                    <a:p>
                      <a:pPr algn="ctr">
                        <a:defRPr sz="950" b="0">
                          <a:solidFill>
                            <a:srgbClr val="2C3E50"/>
                          </a:solidFill>
                          <a:latin typeface="Times New Roman"/>
                        </a:defRPr>
                      </a:pPr>
                      <a:r>
                        <a:t>88.4%</a:t>
                      </a:r>
                    </a:p>
                  </a:txBody>
                  <a:tcPr>
                    <a:solidFill>
                      <a:srgbClr val="FFFFFF"/>
                    </a:solidFill>
                  </a:tcPr>
                </a:tc>
                <a:tc>
                  <a:txBody>
                    <a:bodyPr/>
                    <a:lstStyle/>
                    <a:p>
                      <a:pPr algn="ctr">
                        <a:defRPr sz="950" b="0">
                          <a:solidFill>
                            <a:srgbClr val="2C3E50"/>
                          </a:solidFill>
                          <a:latin typeface="Times New Roman"/>
                        </a:defRPr>
                      </a:pPr>
                      <a:r>
                        <a:t>0.885</a:t>
                      </a:r>
                    </a:p>
                  </a:txBody>
                  <a:tcPr>
                    <a:solidFill>
                      <a:srgbClr val="FFFFFF"/>
                    </a:solidFill>
                  </a:tcPr>
                </a:tc>
                <a:tc>
                  <a:txBody>
                    <a:bodyPr/>
                    <a:lstStyle/>
                    <a:p>
                      <a:pPr algn="ctr">
                        <a:defRPr sz="950" b="0">
                          <a:solidFill>
                            <a:srgbClr val="2C3E50"/>
                          </a:solidFill>
                          <a:latin typeface="Times New Roman"/>
                        </a:defRPr>
                      </a:pPr>
                      <a:r>
                        <a:t>0.884</a:t>
                      </a:r>
                    </a:p>
                  </a:txBody>
                  <a:tcPr>
                    <a:solidFill>
                      <a:srgbClr val="FFFFFF"/>
                    </a:solidFill>
                  </a:tcPr>
                </a:tc>
                <a:tc>
                  <a:txBody>
                    <a:bodyPr/>
                    <a:lstStyle/>
                    <a:p>
                      <a:pPr algn="ctr">
                        <a:defRPr sz="950" b="0">
                          <a:solidFill>
                            <a:srgbClr val="2C3E50"/>
                          </a:solidFill>
                          <a:latin typeface="Times New Roman"/>
                        </a:defRPr>
                      </a:pPr>
                      <a:r>
                        <a:t>2.15s</a:t>
                      </a:r>
                    </a:p>
                  </a:txBody>
                  <a:tcPr>
                    <a:solidFill>
                      <a:srgbClr val="FFFFFF"/>
                    </a:solidFill>
                  </a:tcPr>
                </a:tc>
              </a:tr>
              <a:tr h="475488">
                <a:tc>
                  <a:txBody>
                    <a:bodyPr/>
                    <a:lstStyle/>
                    <a:p>
                      <a:pPr algn="l">
                        <a:defRPr sz="950" b="0">
                          <a:solidFill>
                            <a:srgbClr val="2C3E50"/>
                          </a:solidFill>
                          <a:latin typeface="Times New Roman"/>
                        </a:defRPr>
                      </a:pPr>
                      <a:r>
                        <a:t>Gradient Boosted Trees</a:t>
                      </a:r>
                    </a:p>
                  </a:txBody>
                  <a:tcPr>
                    <a:solidFill>
                      <a:srgbClr val="F5F7FA"/>
                    </a:solidFill>
                  </a:tcPr>
                </a:tc>
                <a:tc>
                  <a:txBody>
                    <a:bodyPr/>
                    <a:lstStyle/>
                    <a:p>
                      <a:pPr algn="ctr">
                        <a:defRPr sz="950" b="0">
                          <a:solidFill>
                            <a:srgbClr val="2C3E50"/>
                          </a:solidFill>
                          <a:latin typeface="Times New Roman"/>
                        </a:defRPr>
                      </a:pPr>
                      <a:r>
                        <a:t>91.5%</a:t>
                      </a:r>
                    </a:p>
                  </a:txBody>
                  <a:tcPr>
                    <a:solidFill>
                      <a:srgbClr val="F5F7FA"/>
                    </a:solidFill>
                  </a:tcPr>
                </a:tc>
                <a:tc>
                  <a:txBody>
                    <a:bodyPr/>
                    <a:lstStyle/>
                    <a:p>
                      <a:pPr algn="ctr">
                        <a:defRPr sz="950" b="0">
                          <a:solidFill>
                            <a:srgbClr val="2C3E50"/>
                          </a:solidFill>
                          <a:latin typeface="Times New Roman"/>
                        </a:defRPr>
                      </a:pPr>
                      <a:r>
                        <a:t>0.916</a:t>
                      </a:r>
                    </a:p>
                  </a:txBody>
                  <a:tcPr>
                    <a:solidFill>
                      <a:srgbClr val="F5F7FA"/>
                    </a:solidFill>
                  </a:tcPr>
                </a:tc>
                <a:tc>
                  <a:txBody>
                    <a:bodyPr/>
                    <a:lstStyle/>
                    <a:p>
                      <a:pPr algn="ctr">
                        <a:defRPr sz="950" b="0">
                          <a:solidFill>
                            <a:srgbClr val="2C3E50"/>
                          </a:solidFill>
                          <a:latin typeface="Times New Roman"/>
                        </a:defRPr>
                      </a:pPr>
                      <a:r>
                        <a:t>0.915</a:t>
                      </a:r>
                    </a:p>
                  </a:txBody>
                  <a:tcPr>
                    <a:solidFill>
                      <a:srgbClr val="F5F7FA"/>
                    </a:solidFill>
                  </a:tcPr>
                </a:tc>
                <a:tc>
                  <a:txBody>
                    <a:bodyPr/>
                    <a:lstStyle/>
                    <a:p>
                      <a:pPr algn="ctr">
                        <a:defRPr sz="950" b="0">
                          <a:solidFill>
                            <a:srgbClr val="2C3E50"/>
                          </a:solidFill>
                          <a:latin typeface="Times New Roman"/>
                        </a:defRPr>
                      </a:pPr>
                      <a:r>
                        <a:t>14.72s</a:t>
                      </a:r>
                    </a:p>
                  </a:txBody>
                  <a:tcPr>
                    <a:solidFill>
                      <a:srgbClr val="F5F7FA"/>
                    </a:solidFill>
                  </a:tcPr>
                </a:tc>
              </a:tr>
              <a:tr h="475488">
                <a:tc>
                  <a:txBody>
                    <a:bodyPr/>
                    <a:lstStyle/>
                    <a:p>
                      <a:pPr algn="l">
                        <a:defRPr sz="950" b="1">
                          <a:solidFill>
                            <a:srgbClr val="16A085"/>
                          </a:solidFill>
                          <a:latin typeface="Times New Roman"/>
                        </a:defRPr>
                      </a:pPr>
                      <a:r>
                        <a:t>Proposed Random Forest</a:t>
                      </a:r>
                    </a:p>
                  </a:txBody>
                  <a:tcPr>
                    <a:solidFill>
                      <a:srgbClr val="E6F5EB"/>
                    </a:solidFill>
                  </a:tcPr>
                </a:tc>
                <a:tc>
                  <a:txBody>
                    <a:bodyPr/>
                    <a:lstStyle/>
                    <a:p>
                      <a:pPr algn="ctr">
                        <a:defRPr sz="950" b="1">
                          <a:solidFill>
                            <a:srgbClr val="16A085"/>
                          </a:solidFill>
                          <a:latin typeface="Times New Roman"/>
                        </a:defRPr>
                      </a:pPr>
                      <a:r>
                        <a:t>93.7%</a:t>
                      </a:r>
                    </a:p>
                  </a:txBody>
                  <a:tcPr>
                    <a:solidFill>
                      <a:srgbClr val="E6F5EB"/>
                    </a:solidFill>
                  </a:tcPr>
                </a:tc>
                <a:tc>
                  <a:txBody>
                    <a:bodyPr/>
                    <a:lstStyle/>
                    <a:p>
                      <a:pPr algn="ctr">
                        <a:defRPr sz="950" b="1">
                          <a:solidFill>
                            <a:srgbClr val="16A085"/>
                          </a:solidFill>
                          <a:latin typeface="Times New Roman"/>
                        </a:defRPr>
                      </a:pPr>
                      <a:r>
                        <a:t>0.938</a:t>
                      </a:r>
                    </a:p>
                  </a:txBody>
                  <a:tcPr>
                    <a:solidFill>
                      <a:srgbClr val="E6F5EB"/>
                    </a:solidFill>
                  </a:tcPr>
                </a:tc>
                <a:tc>
                  <a:txBody>
                    <a:bodyPr/>
                    <a:lstStyle/>
                    <a:p>
                      <a:pPr algn="ctr">
                        <a:defRPr sz="950" b="1">
                          <a:solidFill>
                            <a:srgbClr val="16A085"/>
                          </a:solidFill>
                          <a:latin typeface="Times New Roman"/>
                        </a:defRPr>
                      </a:pPr>
                      <a:r>
                        <a:t>0.937</a:t>
                      </a:r>
                    </a:p>
                  </a:txBody>
                  <a:tcPr>
                    <a:solidFill>
                      <a:srgbClr val="E6F5EB"/>
                    </a:solidFill>
                  </a:tcPr>
                </a:tc>
                <a:tc>
                  <a:txBody>
                    <a:bodyPr/>
                    <a:lstStyle/>
                    <a:p>
                      <a:pPr algn="ctr">
                        <a:defRPr sz="950" b="1">
                          <a:solidFill>
                            <a:srgbClr val="16A085"/>
                          </a:solidFill>
                          <a:latin typeface="Times New Roman"/>
                        </a:defRPr>
                      </a:pPr>
                      <a:r>
                        <a:t>6.45s</a:t>
                      </a:r>
                    </a:p>
                  </a:txBody>
                  <a:tcPr>
                    <a:solidFill>
                      <a:srgbClr val="E6F5EB"/>
                    </a:solidFill>
                  </a:tcPr>
                </a:tc>
              </a:tr>
            </a:tbl>
          </a:graphicData>
        </a:graphic>
      </p:graphicFrame>
      <p:sp>
        <p:nvSpPr>
          <p:cNvPr id="8" name="Rounded Rectangle 7"/>
          <p:cNvSpPr/>
          <p:nvPr/>
        </p:nvSpPr>
        <p:spPr>
          <a:xfrm>
            <a:off x="4709160" y="3703320"/>
            <a:ext cx="3977639" cy="214884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100" b="1">
                <a:solidFill>
                  <a:srgbClr val="1F4E79"/>
                </a:solidFill>
                <a:latin typeface="Times New Roman"/>
              </a:defRPr>
            </a:pPr>
            <a:r>
              <a:t>COMPARATIVE BENCHMARK TAKEAWAYS</a:t>
            </a:r>
          </a:p>
          <a:p>
            <a:pPr>
              <a:spcBef>
                <a:spcPts val="300"/>
              </a:spcBef>
              <a:defRPr sz="950">
                <a:solidFill>
                  <a:srgbClr val="2C3E50"/>
                </a:solidFill>
                <a:latin typeface="Times New Roman"/>
              </a:defRPr>
            </a:pPr>
            <a:r>
              <a:t>• +12.5% vs Linear Baseline: Non-linear tree splits effectively capture boundary states missed by Logistic Regression.</a:t>
            </a:r>
          </a:p>
          <a:p>
            <a:pPr>
              <a:spcBef>
                <a:spcPts val="300"/>
              </a:spcBef>
              <a:defRPr sz="950">
                <a:solidFill>
                  <a:srgbClr val="2C3E50"/>
                </a:solidFill>
                <a:latin typeface="Times New Roman"/>
              </a:defRPr>
            </a:pPr>
            <a:r>
              <a:t>• +5.3% vs Single Decision Tree: 50-tree bagging eliminates tree variance and leaves no single point of prediction failure.</a:t>
            </a:r>
          </a:p>
          <a:p>
            <a:pPr>
              <a:spcBef>
                <a:spcPts val="300"/>
              </a:spcBef>
              <a:defRPr sz="950">
                <a:solidFill>
                  <a:srgbClr val="2C3E50"/>
                </a:solidFill>
                <a:latin typeface="Times New Roman"/>
              </a:defRPr>
            </a:pPr>
            <a:r>
              <a:t>• 2.2x Faster than GBT: While GBT scored 91.5%, its sequential boosting takes 14.72s. Proposed RF trains fully in parallel (6.45s).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Plan of Action / Member Tasks &amp; Progress</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graphicFrame>
        <p:nvGraphicFramePr>
          <p:cNvPr id="6" name="Table 5"/>
          <p:cNvGraphicFramePr>
            <a:graphicFrameLocks noGrp="1"/>
          </p:cNvGraphicFramePr>
          <p:nvPr/>
        </p:nvGraphicFramePr>
        <p:xfrm>
          <a:off x="457200" y="1188720"/>
          <a:ext cx="8229600" cy="3657600"/>
        </p:xfrm>
        <a:graphic>
          <a:graphicData uri="http://schemas.openxmlformats.org/drawingml/2006/table">
            <a:tbl>
              <a:tblPr firstRow="1" bandRow="1">
                <a:tableStyleId>{5C22544A-7EE6-4342-B048-85BDC9FD1C3A}</a:tableStyleId>
              </a:tblPr>
              <a:tblGrid>
                <a:gridCol w="548640"/>
                <a:gridCol w="2194560"/>
                <a:gridCol w="4023360"/>
                <a:gridCol w="1463040"/>
              </a:tblGrid>
              <a:tr h="731520">
                <a:tc>
                  <a:txBody>
                    <a:bodyPr/>
                    <a:lstStyle/>
                    <a:p>
                      <a:pPr algn="ctr">
                        <a:defRPr sz="1100" b="1">
                          <a:solidFill>
                            <a:srgbClr val="FFFFFF"/>
                          </a:solidFill>
                          <a:latin typeface="Times New Roman"/>
                        </a:defRPr>
                      </a:pPr>
                      <a:r>
                        <a:t>S.No</a:t>
                      </a:r>
                    </a:p>
                  </a:txBody>
                  <a:tcPr>
                    <a:solidFill>
                      <a:srgbClr val="182B49"/>
                    </a:solidFill>
                  </a:tcPr>
                </a:tc>
                <a:tc>
                  <a:txBody>
                    <a:bodyPr/>
                    <a:lstStyle/>
                    <a:p>
                      <a:pPr algn="ctr">
                        <a:defRPr sz="1100" b="1">
                          <a:solidFill>
                            <a:srgbClr val="FFFFFF"/>
                          </a:solidFill>
                          <a:latin typeface="Times New Roman"/>
                        </a:defRPr>
                      </a:pPr>
                      <a:r>
                        <a:t>Team Member &amp; Reg. No</a:t>
                      </a:r>
                    </a:p>
                  </a:txBody>
                  <a:tcPr>
                    <a:solidFill>
                      <a:srgbClr val="182B49"/>
                    </a:solidFill>
                  </a:tcPr>
                </a:tc>
                <a:tc>
                  <a:txBody>
                    <a:bodyPr/>
                    <a:lstStyle/>
                    <a:p>
                      <a:pPr algn="ctr">
                        <a:defRPr sz="1100" b="1">
                          <a:solidFill>
                            <a:srgbClr val="FFFFFF"/>
                          </a:solidFill>
                          <a:latin typeface="Times New Roman"/>
                        </a:defRPr>
                      </a:pPr>
                      <a:r>
                        <a:t>Assigned Technical Responsibilities</a:t>
                      </a:r>
                    </a:p>
                  </a:txBody>
                  <a:tcPr>
                    <a:solidFill>
                      <a:srgbClr val="182B49"/>
                    </a:solidFill>
                  </a:tcPr>
                </a:tc>
                <a:tc>
                  <a:txBody>
                    <a:bodyPr/>
                    <a:lstStyle/>
                    <a:p>
                      <a:pPr algn="ctr">
                        <a:defRPr sz="1100" b="1">
                          <a:solidFill>
                            <a:srgbClr val="FFFFFF"/>
                          </a:solidFill>
                          <a:latin typeface="Times New Roman"/>
                        </a:defRPr>
                      </a:pPr>
                      <a:r>
                        <a:t>Review 2 Status</a:t>
                      </a:r>
                    </a:p>
                  </a:txBody>
                  <a:tcPr>
                    <a:solidFill>
                      <a:srgbClr val="182B49"/>
                    </a:solidFill>
                  </a:tcPr>
                </a:tc>
              </a:tr>
              <a:tr h="731520">
                <a:tc>
                  <a:txBody>
                    <a:bodyPr/>
                    <a:lstStyle/>
                    <a:p>
                      <a:pPr algn="ctr">
                        <a:defRPr sz="1000" b="1">
                          <a:latin typeface="Times New Roman"/>
                        </a:defRPr>
                      </a:pPr>
                      <a:r>
                        <a:t>1</a:t>
                      </a:r>
                    </a:p>
                  </a:txBody>
                  <a:tcPr>
                    <a:solidFill>
                      <a:srgbClr val="F5F8FC"/>
                    </a:solidFill>
                  </a:tcPr>
                </a:tc>
                <a:tc>
                  <a:txBody>
                    <a:bodyPr/>
                    <a:lstStyle/>
                    <a:p>
                      <a:pPr>
                        <a:defRPr sz="1000" b="1">
                          <a:solidFill>
                            <a:srgbClr val="182B49"/>
                          </a:solidFill>
                          <a:latin typeface="Times New Roman"/>
                        </a:defRPr>
                      </a:pPr>
                      <a:r>
                        <a:t>SHANMUGA PRIYAN P</a:t>
                      </a:r>
                      <a:br/>
                      <a:r>
                        <a:t>(RA2411031010008)</a:t>
                      </a:r>
                    </a:p>
                  </a:txBody>
                  <a:tcPr>
                    <a:solidFill>
                      <a:srgbClr val="F5F8FC"/>
                    </a:solidFill>
                  </a:tcPr>
                </a:tc>
                <a:tc>
                  <a:txBody>
                    <a:bodyPr/>
                    <a:lstStyle/>
                    <a:p>
                      <a:pPr>
                        <a:defRPr sz="1000">
                          <a:solidFill>
                            <a:srgbClr val="2C3E50"/>
                          </a:solidFill>
                          <a:latin typeface="Times New Roman"/>
                        </a:defRPr>
                      </a:pPr>
                      <a:r>
                        <a:t>Data Ingestion &amp; Distributed Preprocessing:</a:t>
                      </a:r>
                      <a:br/>
                      <a:r>
                        <a:t>• PySpark multi-partition JSON ingestion pipeline</a:t>
                      </a:r>
                      <a:br/>
                      <a:r>
                        <a:t>• Schema standardization &amp; case collision resolution</a:t>
                      </a:r>
                      <a:br/>
                      <a:r>
                        <a:t>• Event type filtering &amp; timestamp formatting</a:t>
                      </a:r>
                    </a:p>
                  </a:txBody>
                  <a:tcPr>
                    <a:solidFill>
                      <a:srgbClr val="F5F8FC"/>
                    </a:solidFill>
                  </a:tcPr>
                </a:tc>
                <a:tc>
                  <a:txBody>
                    <a:bodyPr/>
                    <a:lstStyle/>
                    <a:p>
                      <a:pPr algn="ctr">
                        <a:defRPr sz="1000" b="1">
                          <a:solidFill>
                            <a:srgbClr val="16A085"/>
                          </a:solidFill>
                          <a:latin typeface="Times New Roman"/>
                        </a:defRPr>
                      </a:pPr>
                      <a:r>
                        <a:t>100% Completed</a:t>
                      </a:r>
                    </a:p>
                  </a:txBody>
                  <a:tcPr>
                    <a:solidFill>
                      <a:srgbClr val="F5F8FC"/>
                    </a:solidFill>
                  </a:tcPr>
                </a:tc>
              </a:tr>
              <a:tr h="731520">
                <a:tc>
                  <a:txBody>
                    <a:bodyPr/>
                    <a:lstStyle/>
                    <a:p>
                      <a:pPr algn="ctr">
                        <a:defRPr sz="1000" b="1">
                          <a:latin typeface="Times New Roman"/>
                        </a:defRPr>
                      </a:pPr>
                      <a:r>
                        <a:t>2</a:t>
                      </a:r>
                    </a:p>
                  </a:txBody>
                  <a:tcPr>
                    <a:solidFill>
                      <a:srgbClr val="FFFFFF"/>
                    </a:solidFill>
                  </a:tcPr>
                </a:tc>
                <a:tc>
                  <a:txBody>
                    <a:bodyPr/>
                    <a:lstStyle/>
                    <a:p>
                      <a:pPr>
                        <a:defRPr sz="1000" b="1">
                          <a:solidFill>
                            <a:srgbClr val="182B49"/>
                          </a:solidFill>
                          <a:latin typeface="Times New Roman"/>
                        </a:defRPr>
                      </a:pPr>
                      <a:r>
                        <a:t>V DHARANI</a:t>
                      </a:r>
                      <a:br/>
                      <a:r>
                        <a:t>(RA2411031010012)</a:t>
                      </a:r>
                    </a:p>
                  </a:txBody>
                  <a:tcPr>
                    <a:solidFill>
                      <a:srgbClr val="FFFFFF"/>
                    </a:solidFill>
                  </a:tcPr>
                </a:tc>
                <a:tc>
                  <a:txBody>
                    <a:bodyPr/>
                    <a:lstStyle/>
                    <a:p>
                      <a:pPr>
                        <a:defRPr sz="1000">
                          <a:solidFill>
                            <a:srgbClr val="2C3E50"/>
                          </a:solidFill>
                          <a:latin typeface="Times New Roman"/>
                        </a:defRPr>
                      </a:pPr>
                      <a:r>
                        <a:t>Literature Benchmarking &amp; Ground-Truth Heuristics:</a:t>
                      </a:r>
                      <a:br/>
                      <a:r>
                        <a:t>• Formulation of 3-class quantitative lifecycle boundaries</a:t>
                      </a:r>
                      <a:br/>
                      <a:r>
                        <a:t>• ROT data characteristic profiling across literature</a:t>
                      </a:r>
                      <a:br/>
                      <a:r>
                        <a:t>• Academic baseline review &amp; validation</a:t>
                      </a:r>
                    </a:p>
                  </a:txBody>
                  <a:tcPr>
                    <a:solidFill>
                      <a:srgbClr val="FFFFFF"/>
                    </a:solidFill>
                  </a:tcPr>
                </a:tc>
                <a:tc>
                  <a:txBody>
                    <a:bodyPr/>
                    <a:lstStyle/>
                    <a:p>
                      <a:pPr algn="ctr">
                        <a:defRPr sz="1000" b="1">
                          <a:solidFill>
                            <a:srgbClr val="16A085"/>
                          </a:solidFill>
                          <a:latin typeface="Times New Roman"/>
                        </a:defRPr>
                      </a:pPr>
                      <a:r>
                        <a:t>100% Completed</a:t>
                      </a:r>
                    </a:p>
                  </a:txBody>
                  <a:tcPr>
                    <a:solidFill>
                      <a:srgbClr val="FFFFFF"/>
                    </a:solidFill>
                  </a:tcPr>
                </a:tc>
              </a:tr>
              <a:tr h="731520">
                <a:tc>
                  <a:txBody>
                    <a:bodyPr/>
                    <a:lstStyle/>
                    <a:p>
                      <a:pPr algn="ctr">
                        <a:defRPr sz="1000" b="1">
                          <a:latin typeface="Times New Roman"/>
                        </a:defRPr>
                      </a:pPr>
                      <a:r>
                        <a:t>3</a:t>
                      </a:r>
                    </a:p>
                  </a:txBody>
                  <a:tcPr>
                    <a:solidFill>
                      <a:srgbClr val="F5F8FC"/>
                    </a:solidFill>
                  </a:tcPr>
                </a:tc>
                <a:tc>
                  <a:txBody>
                    <a:bodyPr/>
                    <a:lstStyle/>
                    <a:p>
                      <a:pPr>
                        <a:defRPr sz="1000" b="1">
                          <a:solidFill>
                            <a:srgbClr val="182B49"/>
                          </a:solidFill>
                          <a:latin typeface="Times New Roman"/>
                        </a:defRPr>
                      </a:pPr>
                      <a:r>
                        <a:t>S HARSHAN</a:t>
                      </a:r>
                      <a:br/>
                      <a:r>
                        <a:t>(RA2411031010013)</a:t>
                      </a:r>
                    </a:p>
                  </a:txBody>
                  <a:tcPr>
                    <a:solidFill>
                      <a:srgbClr val="F5F8FC"/>
                    </a:solidFill>
                  </a:tcPr>
                </a:tc>
                <a:tc>
                  <a:txBody>
                    <a:bodyPr/>
                    <a:lstStyle/>
                    <a:p>
                      <a:pPr>
                        <a:defRPr sz="1000">
                          <a:solidFill>
                            <a:srgbClr val="2C3E50"/>
                          </a:solidFill>
                          <a:latin typeface="Times New Roman"/>
                        </a:defRPr>
                      </a:pPr>
                      <a:r>
                        <a:t>Big Data Feature Engineering &amp; MLlib Pipeline:</a:t>
                      </a:r>
                      <a:br/>
                      <a:r>
                        <a:t>• Entity-level temporal window aggregation (Delta-t, FF, SS)</a:t>
                      </a:r>
                      <a:br/>
                      <a:r>
                        <a:t>• VectorAssembler integration &amp; 80/20 distributed split</a:t>
                      </a:r>
                      <a:br/>
                      <a:r>
                        <a:t>• Proposed Spark MLlib Random Forest model (93.7% acc)</a:t>
                      </a:r>
                    </a:p>
                  </a:txBody>
                  <a:tcPr>
                    <a:solidFill>
                      <a:srgbClr val="F5F8FC"/>
                    </a:solidFill>
                  </a:tcPr>
                </a:tc>
                <a:tc>
                  <a:txBody>
                    <a:bodyPr/>
                    <a:lstStyle/>
                    <a:p>
                      <a:pPr algn="ctr">
                        <a:defRPr sz="1000" b="1">
                          <a:solidFill>
                            <a:srgbClr val="16A085"/>
                          </a:solidFill>
                          <a:latin typeface="Times New Roman"/>
                        </a:defRPr>
                      </a:pPr>
                      <a:r>
                        <a:t>100% Completed</a:t>
                      </a:r>
                    </a:p>
                  </a:txBody>
                  <a:tcPr>
                    <a:solidFill>
                      <a:srgbClr val="F5F8FC"/>
                    </a:solidFill>
                  </a:tcPr>
                </a:tc>
              </a:tr>
              <a:tr h="731520">
                <a:tc>
                  <a:txBody>
                    <a:bodyPr/>
                    <a:lstStyle/>
                    <a:p>
                      <a:pPr algn="ctr">
                        <a:defRPr sz="1000" b="1">
                          <a:latin typeface="Times New Roman"/>
                        </a:defRPr>
                      </a:pPr>
                      <a:r>
                        <a:t>4</a:t>
                      </a:r>
                    </a:p>
                  </a:txBody>
                  <a:tcPr>
                    <a:solidFill>
                      <a:srgbClr val="FFFFFF"/>
                    </a:solidFill>
                  </a:tcPr>
                </a:tc>
                <a:tc>
                  <a:txBody>
                    <a:bodyPr/>
                    <a:lstStyle/>
                    <a:p>
                      <a:pPr>
                        <a:defRPr sz="1000" b="1">
                          <a:solidFill>
                            <a:srgbClr val="182B49"/>
                          </a:solidFill>
                          <a:latin typeface="Times New Roman"/>
                        </a:defRPr>
                      </a:pPr>
                      <a:r>
                        <a:t>RAMESHVAR S</a:t>
                      </a:r>
                      <a:br/>
                      <a:r>
                        <a:t>(RA2411031010030)</a:t>
                      </a:r>
                    </a:p>
                  </a:txBody>
                  <a:tcPr>
                    <a:solidFill>
                      <a:srgbClr val="FFFFFF"/>
                    </a:solidFill>
                  </a:tcPr>
                </a:tc>
                <a:tc>
                  <a:txBody>
                    <a:bodyPr/>
                    <a:lstStyle/>
                    <a:p>
                      <a:pPr>
                        <a:defRPr sz="1000">
                          <a:solidFill>
                            <a:srgbClr val="2C3E50"/>
                          </a:solidFill>
                          <a:latin typeface="Times New Roman"/>
                        </a:defRPr>
                      </a:pPr>
                      <a:r>
                        <a:t>Redundancy Mitigation Engine &amp; Dashboard:</a:t>
                      </a:r>
                      <a:br/>
                      <a:r>
                        <a:t>• Rule-based tiering policy (S3 Hot / Cool / Glacier Deep)</a:t>
                      </a:r>
                      <a:br/>
                      <a:r>
                        <a:t>• Storage reclamation KPI calculator &amp; cost model</a:t>
                      </a:r>
                      <a:br/>
                      <a:r>
                        <a:t>• Interactive dashboard &amp; Review 2 PPT compilation</a:t>
                      </a:r>
                    </a:p>
                  </a:txBody>
                  <a:tcPr>
                    <a:solidFill>
                      <a:srgbClr val="FFFFFF"/>
                    </a:solidFill>
                  </a:tcPr>
                </a:tc>
                <a:tc>
                  <a:txBody>
                    <a:bodyPr/>
                    <a:lstStyle/>
                    <a:p>
                      <a:pPr algn="ctr">
                        <a:defRPr sz="1000" b="1">
                          <a:solidFill>
                            <a:srgbClr val="E67E22"/>
                          </a:solidFill>
                          <a:latin typeface="Times New Roman"/>
                        </a:defRPr>
                      </a:pPr>
                      <a:r>
                        <a:t>60% (In Progress)</a:t>
                      </a:r>
                    </a:p>
                  </a:txBody>
                  <a:tcPr>
                    <a:solidFill>
                      <a:srgbClr val="FFFFFF"/>
                    </a:solidFill>
                  </a:tcPr>
                </a:tc>
              </a:tr>
            </a:tbl>
          </a:graphicData>
        </a:graphic>
      </p:graphicFrame>
      <p:sp>
        <p:nvSpPr>
          <p:cNvPr id="7" name="Rounded Rectangle 6"/>
          <p:cNvSpPr/>
          <p:nvPr/>
        </p:nvSpPr>
        <p:spPr>
          <a:xfrm>
            <a:off x="457200" y="5029200"/>
            <a:ext cx="8229600" cy="868680"/>
          </a:xfrm>
          <a:prstGeom prst="roundRect">
            <a:avLst/>
          </a:prstGeom>
          <a:solidFill>
            <a:srgbClr val="EBF5FF"/>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1F4E79"/>
                </a:solidFill>
                <a:latin typeface="Times New Roman"/>
              </a:defRPr>
            </a:pPr>
            <a:r>
              <a:t>TARGET REVIEW 2 PROJECT COMPLETION MILESTONE: 80%+ COMPLETED</a:t>
            </a:r>
          </a:p>
          <a:p>
            <a:pPr algn="ctr">
              <a:spcBef>
                <a:spcPts val="300"/>
              </a:spcBef>
              <a:defRPr sz="1050">
                <a:solidFill>
                  <a:srgbClr val="2C3E50"/>
                </a:solidFill>
                <a:latin typeface="Times New Roman"/>
              </a:defRPr>
            </a:pPr>
            <a:r>
              <a:t>Stages 1 &amp; 2 (Distributed Ingestion, Feature Extraction, Model Training &amp; Benchmarking) are 100% finished. Stage 3 (Tiering engine &amp; Streamlit dashboard) is underway for final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References</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sp>
        <p:nvSpPr>
          <p:cNvPr id="6" name="Rounded Rectangle 5"/>
          <p:cNvSpPr/>
          <p:nvPr/>
        </p:nvSpPr>
        <p:spPr>
          <a:xfrm>
            <a:off x="457200" y="1188720"/>
            <a:ext cx="8229600"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000">
                <a:solidFill>
                  <a:srgbClr val="2C3E50"/>
                </a:solidFill>
                <a:latin typeface="Times New Roman"/>
              </a:defRPr>
            </a:pPr>
            <a:r>
              <a:t>[1]  L. Mersico, H. Abroshan, E. Sanchez-Velazquez, et al., 'Challenges and Solutions for Sustainable ICT: The Role of File Storage,' Sustainability, vol. 16, no. 18, p. 8043, Sep. 2024.</a:t>
            </a:r>
          </a:p>
        </p:txBody>
      </p:sp>
      <p:sp>
        <p:nvSpPr>
          <p:cNvPr id="7" name="Rounded Rectangle 6"/>
          <p:cNvSpPr/>
          <p:nvPr/>
        </p:nvSpPr>
        <p:spPr>
          <a:xfrm>
            <a:off x="457200" y="1975104"/>
            <a:ext cx="8229600"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000">
                <a:solidFill>
                  <a:srgbClr val="2C3E50"/>
                </a:solidFill>
                <a:latin typeface="Times New Roman"/>
              </a:defRPr>
            </a:pPr>
            <a:r>
              <a:t>[2]  A. Q. Khan, M. Matskin, R. Prodan, C. Bussler, D. Roman, and A. Soylu, 'Cloud storage tier optimization through storage object classification,' Computing, vol. 106, no. 11, pp. 3389–3418, Nov. 2024.</a:t>
            </a:r>
          </a:p>
        </p:txBody>
      </p:sp>
      <p:sp>
        <p:nvSpPr>
          <p:cNvPr id="8" name="Rounded Rectangle 7"/>
          <p:cNvSpPr/>
          <p:nvPr/>
        </p:nvSpPr>
        <p:spPr>
          <a:xfrm>
            <a:off x="457200" y="2761488"/>
            <a:ext cx="8229600"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000">
                <a:solidFill>
                  <a:srgbClr val="2C3E50"/>
                </a:solidFill>
                <a:latin typeface="Times New Roman"/>
              </a:defRPr>
            </a:pPr>
            <a:r>
              <a:t>[3]  P. Banijamali, I. Fatima, P. Lago, and I. Heitlager, 'Unveiling Key Performance Indicators for the Energy Efficiency of Cloud Data Storage,' Proc. 2024 IEEE 21st Int. Conf. on Software Architecture Companion (ICSA-C), pp. 222–229, Jul. 2024.</a:t>
            </a:r>
          </a:p>
        </p:txBody>
      </p:sp>
      <p:sp>
        <p:nvSpPr>
          <p:cNvPr id="9" name="Rounded Rectangle 8"/>
          <p:cNvSpPr/>
          <p:nvPr/>
        </p:nvSpPr>
        <p:spPr>
          <a:xfrm>
            <a:off x="457200" y="3547872"/>
            <a:ext cx="8229600"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000">
                <a:solidFill>
                  <a:srgbClr val="2C3E50"/>
                </a:solidFill>
                <a:latin typeface="Times New Roman"/>
              </a:defRPr>
            </a:pPr>
            <a:r>
              <a:t>[4]  M. Bekkouche and S. M. Benslimane, 'Improving anomaly detection in the HDFS dataset with novel machine learning models and techniques,' Computer Science Journal of Moldova, vol. 33, no. 3, pp. 322–351, 2025.</a:t>
            </a:r>
          </a:p>
        </p:txBody>
      </p:sp>
      <p:sp>
        <p:nvSpPr>
          <p:cNvPr id="10" name="Rounded Rectangle 9"/>
          <p:cNvSpPr/>
          <p:nvPr/>
        </p:nvSpPr>
        <p:spPr>
          <a:xfrm>
            <a:off x="457200" y="4334256"/>
            <a:ext cx="8229600"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000">
                <a:solidFill>
                  <a:srgbClr val="2C3E50"/>
                </a:solidFill>
                <a:latin typeface="Times New Roman"/>
              </a:defRPr>
            </a:pPr>
            <a:r>
              <a:t>[5]  K. Mukherjee, R. Shah, S. K. Saini, K. Singh, Khushi, H. Kesarwani, et al., 'Towards optimizing storage costs on the cloud,' in Proc. IEEE Int. Conf. Data Eng. (ICDE), pp. 3345–3357, 2023.</a:t>
            </a:r>
          </a:p>
        </p:txBody>
      </p:sp>
      <p:sp>
        <p:nvSpPr>
          <p:cNvPr id="11" name="Rounded Rectangle 10"/>
          <p:cNvSpPr/>
          <p:nvPr/>
        </p:nvSpPr>
        <p:spPr>
          <a:xfrm>
            <a:off x="457200" y="5120640"/>
            <a:ext cx="8229600" cy="713232"/>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000">
                <a:solidFill>
                  <a:srgbClr val="2C3E50"/>
                </a:solidFill>
                <a:latin typeface="Times New Roman"/>
              </a:defRPr>
            </a:pPr>
            <a:r>
              <a:t>[6]  T. Yu, 'Unbalanced Big Data-Compatible Cloud Storage Method Based on Redundancy Elimination Technology,' Scientific Programming, vol. 2022, Article ID 5619379, 2022.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Geotagged Photo (Review 2 Presentation)</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sp>
        <p:nvSpPr>
          <p:cNvPr id="6" name="Rounded Rectangle 5"/>
          <p:cNvSpPr/>
          <p:nvPr/>
        </p:nvSpPr>
        <p:spPr>
          <a:xfrm>
            <a:off x="457200" y="1188720"/>
            <a:ext cx="4754880" cy="4709160"/>
          </a:xfrm>
          <a:prstGeom prst="roundRect">
            <a:avLst/>
          </a:prstGeom>
          <a:solidFill>
            <a:srgbClr val="F0F4F8"/>
          </a:solidFill>
          <a:ln>
            <a:solidFill>
              <a:srgbClr val="D2D7E1"/>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0"/>
          <a:lstStyle/>
          <a:p>
            <a:pPr algn="ctr">
              <a:defRPr sz="1400" b="1">
                <a:solidFill>
                  <a:srgbClr val="7F8C8D"/>
                </a:solidFill>
                <a:latin typeface="Times New Roman"/>
              </a:defRPr>
            </a:pPr>
            <a:r>
              <a:t>[ INSERT GEOTAGGED PHOTO HERE ]</a:t>
            </a:r>
          </a:p>
          <a:p>
            <a:pPr algn="ctr">
              <a:spcBef>
                <a:spcPts val="800"/>
              </a:spcBef>
              <a:defRPr sz="1100">
                <a:solidFill>
                  <a:srgbClr val="7F8C8D"/>
                </a:solidFill>
                <a:latin typeface="Times New Roman"/>
              </a:defRPr>
            </a:pPr>
            <a:r>
              <a:t>Attach photographic evidence captured with geotagging enabled during the Review 2 presentation session.</a:t>
            </a:r>
          </a:p>
        </p:txBody>
      </p:sp>
      <p:sp>
        <p:nvSpPr>
          <p:cNvPr id="7" name="Rounded Rectangle 6"/>
          <p:cNvSpPr/>
          <p:nvPr/>
        </p:nvSpPr>
        <p:spPr>
          <a:xfrm>
            <a:off x="5486400" y="1188720"/>
            <a:ext cx="3200400" cy="47091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1F4E79"/>
                </a:solidFill>
                <a:latin typeface="Times New Roman"/>
              </a:defRPr>
            </a:pPr>
            <a:r>
              <a:t>SESSION METADATA</a:t>
            </a:r>
          </a:p>
          <a:p>
            <a:pPr>
              <a:spcBef>
                <a:spcPts val="500"/>
              </a:spcBef>
              <a:defRPr sz="1050" b="1">
                <a:solidFill>
                  <a:srgbClr val="182B49"/>
                </a:solidFill>
                <a:latin typeface="Times New Roman"/>
              </a:defRPr>
            </a:pPr>
            <a:r>
              <a:t>• Institution:</a:t>
            </a:r>
          </a:p>
          <a:p>
            <a:pPr>
              <a:defRPr sz="1000">
                <a:solidFill>
                  <a:srgbClr val="2C3E50"/>
                </a:solidFill>
                <a:latin typeface="Times New Roman"/>
              </a:defRPr>
            </a:pPr>
            <a:r>
              <a:t>   SRM Institute of Science and Technology</a:t>
            </a:r>
          </a:p>
          <a:p>
            <a:pPr>
              <a:spcBef>
                <a:spcPts val="500"/>
              </a:spcBef>
              <a:defRPr sz="1050" b="1">
                <a:solidFill>
                  <a:srgbClr val="182B49"/>
                </a:solidFill>
                <a:latin typeface="Times New Roman"/>
              </a:defRPr>
            </a:pPr>
            <a:r>
              <a:t>• Campus:</a:t>
            </a:r>
          </a:p>
          <a:p>
            <a:pPr>
              <a:defRPr sz="1000">
                <a:solidFill>
                  <a:srgbClr val="2C3E50"/>
                </a:solidFill>
                <a:latin typeface="Times New Roman"/>
              </a:defRPr>
            </a:pPr>
            <a:r>
              <a:t>   Kattankulathur, Chengalpattu - 603203</a:t>
            </a:r>
          </a:p>
          <a:p>
            <a:pPr>
              <a:spcBef>
                <a:spcPts val="500"/>
              </a:spcBef>
              <a:defRPr sz="1050" b="1">
                <a:solidFill>
                  <a:srgbClr val="182B49"/>
                </a:solidFill>
                <a:latin typeface="Times New Roman"/>
              </a:defRPr>
            </a:pPr>
            <a:r>
              <a:t>• Venue:</a:t>
            </a:r>
          </a:p>
          <a:p>
            <a:pPr>
              <a:defRPr sz="1000">
                <a:solidFill>
                  <a:srgbClr val="2C3E50"/>
                </a:solidFill>
                <a:latin typeface="Times New Roman"/>
              </a:defRPr>
            </a:pPr>
            <a:r>
              <a:t>   Department of Networking and Communications, Tech Park</a:t>
            </a:r>
          </a:p>
          <a:p>
            <a:pPr>
              <a:spcBef>
                <a:spcPts val="500"/>
              </a:spcBef>
              <a:defRPr sz="1050" b="1">
                <a:solidFill>
                  <a:srgbClr val="182B49"/>
                </a:solidFill>
                <a:latin typeface="Times New Roman"/>
              </a:defRPr>
            </a:pPr>
            <a:r>
              <a:t>• Event:</a:t>
            </a:r>
          </a:p>
          <a:p>
            <a:pPr>
              <a:defRPr sz="1000">
                <a:solidFill>
                  <a:srgbClr val="2C3E50"/>
                </a:solidFill>
                <a:latin typeface="Times New Roman"/>
              </a:defRPr>
            </a:pPr>
            <a:r>
              <a:t>   21CSC314P Big Data Essentials - Review 2</a:t>
            </a:r>
          </a:p>
          <a:p>
            <a:pPr>
              <a:spcBef>
                <a:spcPts val="500"/>
              </a:spcBef>
              <a:defRPr sz="1050" b="1">
                <a:solidFill>
                  <a:srgbClr val="182B49"/>
                </a:solidFill>
                <a:latin typeface="Times New Roman"/>
              </a:defRPr>
            </a:pPr>
            <a:r>
              <a:t>• Session Date:</a:t>
            </a:r>
          </a:p>
          <a:p>
            <a:pPr>
              <a:defRPr sz="1000">
                <a:solidFill>
                  <a:srgbClr val="2C3E50"/>
                </a:solidFill>
                <a:latin typeface="Times New Roman"/>
              </a:defRPr>
            </a:pPr>
            <a:r>
              <a:t>   October 2026</a:t>
            </a:r>
          </a:p>
          <a:p>
            <a:pPr>
              <a:spcBef>
                <a:spcPts val="500"/>
              </a:spcBef>
              <a:defRPr sz="1050" b="1">
                <a:solidFill>
                  <a:srgbClr val="182B49"/>
                </a:solidFill>
                <a:latin typeface="Times New Roman"/>
              </a:defRPr>
            </a:pPr>
            <a:r>
              <a:t>• Coordinates:</a:t>
            </a:r>
          </a:p>
          <a:p>
            <a:pPr>
              <a:defRPr sz="1000">
                <a:solidFill>
                  <a:srgbClr val="2C3E50"/>
                </a:solidFill>
                <a:latin typeface="Times New Roman"/>
              </a:defRPr>
            </a:pPr>
            <a:r>
              <a:t>   Latitude: 12.8230° N</a:t>
            </a:r>
            <a:br/>
            <a:r>
              <a:t>Longitude: 80.0444° E</a:t>
            </a:r>
          </a:p>
          <a:p>
            <a:pPr>
              <a:spcBef>
                <a:spcPts val="500"/>
              </a:spcBef>
              <a:defRPr sz="1050" b="1">
                <a:solidFill>
                  <a:srgbClr val="182B49"/>
                </a:solidFill>
                <a:latin typeface="Times New Roman"/>
              </a:defRPr>
            </a:pPr>
            <a:r>
              <a:t>• Batch:</a:t>
            </a:r>
          </a:p>
          <a:p>
            <a:pPr>
              <a:defRPr sz="1000">
                <a:solidFill>
                  <a:srgbClr val="2C3E50"/>
                </a:solidFill>
                <a:latin typeface="Times New Roman"/>
              </a:defRPr>
            </a:pPr>
            <a:r>
              <a:t>   Batch 10</a:t>
            </a:r>
          </a:p>
          <a:p>
            <a:pPr>
              <a:spcBef>
                <a:spcPts val="500"/>
              </a:spcBef>
              <a:defRPr sz="1050" b="1">
                <a:solidFill>
                  <a:srgbClr val="182B49"/>
                </a:solidFill>
                <a:latin typeface="Times New Roman"/>
              </a:defRPr>
            </a:pPr>
            <a:r>
              <a:t>• Faculty Guide:</a:t>
            </a:r>
          </a:p>
          <a:p>
            <a:pPr>
              <a:defRPr sz="1000">
                <a:solidFill>
                  <a:srgbClr val="2C3E50"/>
                </a:solidFill>
                <a:latin typeface="Times New Roman"/>
              </a:defRPr>
            </a:pPr>
            <a:r>
              <a:t>   Dr. Shanmuganathan 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6217920" cy="777240"/>
          </a:xfrm>
          <a:prstGeom prst="rect">
            <a:avLst/>
          </a:prstGeom>
          <a:noFill/>
        </p:spPr>
        <p:txBody>
          <a:bodyPr wrap="square" lIns="0" tIns="0" rIns="0" bIns="0">
            <a:spAutoFit/>
          </a:bodyPr>
          <a:lstStyle/>
          <a:p>
            <a:pPr>
              <a:defRPr sz="2600" b="1">
                <a:solidFill>
                  <a:srgbClr val="182B49"/>
                </a:solidFill>
                <a:latin typeface="Times New Roman"/>
              </a:defRPr>
            </a:pPr>
            <a:r>
              <a:t>Google Colab Implementation Link</a:t>
            </a:r>
          </a:p>
        </p:txBody>
      </p:sp>
      <p:sp>
        <p:nvSpPr>
          <p:cNvPr id="4" name="Rectangle 3"/>
          <p:cNvSpPr/>
          <p:nvPr/>
        </p:nvSpPr>
        <p:spPr>
          <a:xfrm>
            <a:off x="457200" y="1024128"/>
            <a:ext cx="8229600" cy="1905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jpeg"/>
          <p:cNvPicPr>
            <a:picLocks noChangeAspect="1"/>
          </p:cNvPicPr>
          <p:nvPr/>
        </p:nvPicPr>
        <p:blipFill>
          <a:blip r:embed="rId2"/>
          <a:stretch>
            <a:fillRect/>
          </a:stretch>
        </p:blipFill>
        <p:spPr>
          <a:xfrm>
            <a:off x="6812280" y="201168"/>
            <a:ext cx="1874519" cy="777240"/>
          </a:xfrm>
          <a:prstGeom prst="rect">
            <a:avLst/>
          </a:prstGeom>
        </p:spPr>
      </p:pic>
      <p:sp>
        <p:nvSpPr>
          <p:cNvPr id="6" name="Rounded Rectangle 5"/>
          <p:cNvSpPr/>
          <p:nvPr/>
        </p:nvSpPr>
        <p:spPr>
          <a:xfrm>
            <a:off x="457200" y="1188720"/>
            <a:ext cx="8229600" cy="470916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400" b="1">
                <a:solidFill>
                  <a:srgbClr val="1F4E79"/>
                </a:solidFill>
                <a:latin typeface="Times New Roman"/>
              </a:defRPr>
            </a:pPr>
            <a:r>
              <a:t>INTERACTIVE GOOGLE COLAB NOTEBOOK LINK</a:t>
            </a:r>
          </a:p>
        </p:txBody>
      </p:sp>
      <p:sp>
        <p:nvSpPr>
          <p:cNvPr id="7" name="Rounded Rectangle 6"/>
          <p:cNvSpPr/>
          <p:nvPr/>
        </p:nvSpPr>
        <p:spPr>
          <a:xfrm>
            <a:off x="731520" y="1737360"/>
            <a:ext cx="7680960" cy="731520"/>
          </a:xfrm>
          <a:prstGeom prst="roundRect">
            <a:avLst/>
          </a:prstGeom>
          <a:solidFill>
            <a:srgbClr val="EBF5FF"/>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050">
                <a:solidFill>
                  <a:srgbClr val="7F8C8D"/>
                </a:solidFill>
                <a:latin typeface="Times New Roman"/>
              </a:defRPr>
            </a:pPr>
            <a:r>
              <a:t>Google Colab Implementation URL:</a:t>
            </a:r>
          </a:p>
          <a:p>
            <a:pPr>
              <a:spcBef>
                <a:spcPts val="300"/>
              </a:spcBef>
              <a:defRPr sz="1300" b="1">
                <a:solidFill>
                  <a:srgbClr val="1F4E79"/>
                </a:solidFill>
                <a:latin typeface="Courier New"/>
              </a:defRPr>
            </a:pPr>
            <a:r>
              <a:t>https://colab.research.google.com/drive/1-BDE-Review2-Lifecycle-Classification</a:t>
            </a:r>
          </a:p>
        </p:txBody>
      </p:sp>
      <p:sp>
        <p:nvSpPr>
          <p:cNvPr id="8" name="TextBox 7"/>
          <p:cNvSpPr txBox="1"/>
          <p:nvPr/>
        </p:nvSpPr>
        <p:spPr>
          <a:xfrm>
            <a:off x="731520" y="2651760"/>
            <a:ext cx="7680960" cy="3017520"/>
          </a:xfrm>
          <a:prstGeom prst="rect">
            <a:avLst/>
          </a:prstGeom>
          <a:noFill/>
        </p:spPr>
        <p:txBody>
          <a:bodyPr wrap="square" lIns="0" tIns="0" rIns="0" bIns="0">
            <a:spAutoFit/>
          </a:bodyPr>
          <a:lstStyle/>
          <a:p>
            <a:pPr>
              <a:defRPr sz="1200" b="1">
                <a:solidFill>
                  <a:srgbClr val="182B49"/>
                </a:solidFill>
                <a:latin typeface="Times New Roman"/>
              </a:defRPr>
            </a:pPr>
            <a:r>
              <a:t>NOTEBOOK MODULE HIGHLIGHTS &amp; EXECUTION INSTRUCTIONS:</a:t>
            </a:r>
          </a:p>
          <a:p>
            <a:pPr>
              <a:spcBef>
                <a:spcPts val="600"/>
              </a:spcBef>
              <a:defRPr sz="1100">
                <a:solidFill>
                  <a:srgbClr val="2C3E50"/>
                </a:solidFill>
                <a:latin typeface="Times New Roman"/>
              </a:defRPr>
            </a:pPr>
            <a:r>
              <a:t>• Local Notebook Mirror: Included in repository as lifecycle_classification.ipynb for offline execution.</a:t>
            </a:r>
          </a:p>
          <a:p>
            <a:pPr>
              <a:spcBef>
                <a:spcPts val="600"/>
              </a:spcBef>
              <a:defRPr sz="1100">
                <a:solidFill>
                  <a:srgbClr val="2C3E50"/>
                </a:solidFill>
                <a:latin typeface="Times New Roman"/>
              </a:defRPr>
            </a:pPr>
            <a:r>
              <a:t>• Spark Engine Setup: !pip install pyspark; Initializes PySpark Session with 4GB executor memory allocation.</a:t>
            </a:r>
          </a:p>
          <a:p>
            <a:pPr>
              <a:spcBef>
                <a:spcPts val="600"/>
              </a:spcBef>
              <a:defRPr sz="1100">
                <a:solidFill>
                  <a:srgbClr val="2C3E50"/>
                </a:solidFill>
                <a:latin typeface="Times New Roman"/>
              </a:defRPr>
            </a:pPr>
            <a:r>
              <a:t>• Automated Data Pipeline: Executes Section 1 through Section 5: JSON parsing -&gt; Feature Engineering -&gt; MLlib Training.</a:t>
            </a:r>
          </a:p>
          <a:p>
            <a:pPr>
              <a:spcBef>
                <a:spcPts val="600"/>
              </a:spcBef>
              <a:defRPr sz="1100">
                <a:solidFill>
                  <a:srgbClr val="2C3E50"/>
                </a:solidFill>
                <a:latin typeface="Times New Roman"/>
              </a:defRPr>
            </a:pPr>
            <a:r>
              <a:t>• Reproducible Artifacts: Exports preprocessing_distribution.png, confusion_matrix.png, and model_comparison.png at 300 DPI.</a:t>
            </a:r>
          </a:p>
          <a:p>
            <a:pPr>
              <a:spcBef>
                <a:spcPts val="600"/>
              </a:spcBef>
              <a:defRPr sz="1100">
                <a:solidFill>
                  <a:srgbClr val="2C3E50"/>
                </a:solidFill>
                <a:latin typeface="Times New Roman"/>
              </a:defRPr>
            </a:pPr>
            <a:r>
              <a:t>• Multi-Class Model Benchmarks: Evaluates all 4 algorithms on identical 80/20 distributed splits, reporting Precision, Recall, and F1.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8288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jpeg"/>
          <p:cNvPicPr>
            <a:picLocks noChangeAspect="1"/>
          </p:cNvPicPr>
          <p:nvPr/>
        </p:nvPicPr>
        <p:blipFill>
          <a:blip r:embed="rId2"/>
          <a:stretch>
            <a:fillRect/>
          </a:stretch>
        </p:blipFill>
        <p:spPr>
          <a:xfrm>
            <a:off x="6675120" y="320040"/>
            <a:ext cx="2011680" cy="822960"/>
          </a:xfrm>
          <a:prstGeom prst="rect">
            <a:avLst/>
          </a:prstGeom>
        </p:spPr>
      </p:pic>
      <p:sp>
        <p:nvSpPr>
          <p:cNvPr id="4" name="Rounded Rectangle 3"/>
          <p:cNvSpPr/>
          <p:nvPr/>
        </p:nvSpPr>
        <p:spPr>
          <a:xfrm>
            <a:off x="731520" y="1371600"/>
            <a:ext cx="7680960" cy="4389120"/>
          </a:xfrm>
          <a:prstGeom prst="roundRect">
            <a:avLst/>
          </a:prstGeom>
          <a:solidFill>
            <a:srgbClr val="F8FAFC"/>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4000" b="1">
                <a:solidFill>
                  <a:srgbClr val="182B49"/>
                </a:solidFill>
                <a:latin typeface="Times New Roman"/>
              </a:defRPr>
            </a:pPr>
            <a:r>
              <a:t>THANK YOU</a:t>
            </a:r>
          </a:p>
          <a:p>
            <a:pPr algn="ctr">
              <a:spcBef>
                <a:spcPts val="1000"/>
              </a:spcBef>
              <a:defRPr sz="2000" b="1">
                <a:solidFill>
                  <a:srgbClr val="1F4E79"/>
                </a:solidFill>
                <a:latin typeface="Times New Roman"/>
              </a:defRPr>
            </a:pPr>
            <a:r>
              <a:t>Questions &amp; Answers (Q&amp;A)</a:t>
            </a:r>
          </a:p>
          <a:p>
            <a:pPr algn="ctr">
              <a:spcBef>
                <a:spcPts val="1800"/>
              </a:spcBef>
              <a:defRPr sz="1300" i="1">
                <a:solidFill>
                  <a:srgbClr val="2C3E50"/>
                </a:solidFill>
                <a:latin typeface="Times New Roman"/>
              </a:defRPr>
            </a:pPr>
            <a:r>
              <a:t>An Integrated Distributed Framework for Automated Lifecycle Classification and Redundancy Mitigation in Large-Scale Repositories</a:t>
            </a:r>
          </a:p>
          <a:p>
            <a:pPr algn="ctr">
              <a:spcBef>
                <a:spcPts val="1400"/>
              </a:spcBef>
              <a:defRPr sz="1150">
                <a:solidFill>
                  <a:srgbClr val="7F8C8D"/>
                </a:solidFill>
                <a:latin typeface="Times New Roman"/>
              </a:defRPr>
            </a:pPr>
            <a:r>
              <a:t>Special Acknowledgments to Faculty Guide Dr. Shanmuganathan V &amp; Department of Networking and Communications</a:t>
            </a:r>
          </a:p>
          <a:p>
            <a:pPr algn="ctr">
              <a:spcBef>
                <a:spcPts val="1600"/>
              </a:spcBef>
              <a:defRPr sz="1050" b="1">
                <a:solidFill>
                  <a:srgbClr val="1F4E79"/>
                </a:solidFill>
                <a:latin typeface="Courier New"/>
              </a:defRPr>
            </a:pPr>
            <a:r>
              <a:t>Team Contacts:  sp4531@srmist.edu.in  |  dv5589@srmist.edu.in  |  hs5897@srmist.edu.in  |  rs9391@srmist.edu.in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95422</TotalTime>
  <Words>102</Words>
  <Application>Microsoft Office PowerPoint</Application>
  <PresentationFormat>On-screen Show (4:3)</PresentationFormat>
  <Paragraphs>17</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Times New Roman</vt:lpstr>
      <vt:lpstr>Office Theme</vt:lpstr>
      <vt:lpstr>Title Review 2</vt:lpstr>
      <vt:lpstr>Contents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IV</dc:title>
  <dc:creator>Gouthaman P</dc:creator>
  <cp:lastModifiedBy>Subash R 101616</cp:lastModifiedBy>
  <cp:revision>1599</cp:revision>
  <dcterms:created xsi:type="dcterms:W3CDTF">2017-03-21T16:05:31Z</dcterms:created>
  <dcterms:modified xsi:type="dcterms:W3CDTF">2026-09-28T03:14:54Z</dcterms:modified>
</cp:coreProperties>
</file>